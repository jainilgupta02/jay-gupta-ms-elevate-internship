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24"/>
  </p:notesMasterIdLst>
  <p:sldIdLst>
    <p:sldId id="277" r:id="rId3"/>
    <p:sldId id="278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 mAP50</c:v>
                </c:pt>
              </c:strCache>
            </c:strRef>
          </c:tx>
          <c:spPr>
            <a:solidFill>
              <a:srgbClr val="B0C4DE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person</c:v>
                </c:pt>
                <c:pt idx="1">
                  <c:v>vehicle</c:v>
                </c:pt>
                <c:pt idx="2">
                  <c:v>crowd</c:v>
                </c:pt>
                <c:pt idx="3">
                  <c:v>military_vehicle</c:v>
                </c:pt>
                <c:pt idx="4">
                  <c:v>aircraft</c:v>
                </c:pt>
                <c:pt idx="5">
                  <c:v>ship</c:v>
                </c:pt>
                <c:pt idx="6">
                  <c:v>suspicious_obj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0.14199999999999999</c:v>
                </c:pt>
                <c:pt idx="1">
                  <c:v>0.38900000000000001</c:v>
                </c:pt>
                <c:pt idx="2">
                  <c:v>0.156</c:v>
                </c:pt>
                <c:pt idx="3">
                  <c:v>0.28699999999999998</c:v>
                </c:pt>
                <c:pt idx="4">
                  <c:v>0.312</c:v>
                </c:pt>
                <c:pt idx="5">
                  <c:v>0</c:v>
                </c:pt>
                <c:pt idx="6">
                  <c:v>3.1E-2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D87-48E7-9CA9-0021AAF3A5D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Balanced mAP50</c:v>
                </c:pt>
              </c:strCache>
            </c:strRef>
          </c:tx>
          <c:spPr>
            <a:solidFill>
              <a:srgbClr val="0070C0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person</c:v>
                </c:pt>
                <c:pt idx="1">
                  <c:v>vehicle</c:v>
                </c:pt>
                <c:pt idx="2">
                  <c:v>crowd</c:v>
                </c:pt>
                <c:pt idx="3">
                  <c:v>military_vehicle</c:v>
                </c:pt>
                <c:pt idx="4">
                  <c:v>aircraft</c:v>
                </c:pt>
                <c:pt idx="5">
                  <c:v>ship</c:v>
                </c:pt>
                <c:pt idx="6">
                  <c:v>suspicious_obj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0.312</c:v>
                </c:pt>
                <c:pt idx="1">
                  <c:v>0.52100000000000002</c:v>
                </c:pt>
                <c:pt idx="2">
                  <c:v>0.44500000000000001</c:v>
                </c:pt>
                <c:pt idx="3">
                  <c:v>0.498</c:v>
                </c:pt>
                <c:pt idx="4">
                  <c:v>0.46700000000000003</c:v>
                </c:pt>
                <c:pt idx="5">
                  <c:v>0.87</c:v>
                </c:pt>
                <c:pt idx="6">
                  <c:v>0.28899999999999998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D87-48E7-9CA9-0021AAF3A5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8EE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8486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A541-74AD-4A70-8AFA-C7ABD81DEF50}" type="datetimeFigureOut">
              <a:rPr lang="en-IN" smtClean="0"/>
              <a:pPr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D8B63-CEEB-40B6-812A-8994CDE1651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103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A541-74AD-4A70-8AFA-C7ABD81DEF50}" type="datetimeFigureOut">
              <a:rPr lang="en-IN" smtClean="0"/>
              <a:pPr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D8B63-CEEB-40B6-812A-8994CDE1651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2072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A541-74AD-4A70-8AFA-C7ABD81DEF50}" type="datetimeFigureOut">
              <a:rPr lang="en-IN" smtClean="0"/>
              <a:pPr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D8B63-CEEB-40B6-812A-8994CDE1651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4143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A541-74AD-4A70-8AFA-C7ABD81DEF50}" type="datetimeFigureOut">
              <a:rPr lang="en-IN" smtClean="0"/>
              <a:pPr/>
              <a:t>08-05-2026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D8B63-CEEB-40B6-812A-8994CDE1651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3298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A541-74AD-4A70-8AFA-C7ABD81DEF50}" type="datetimeFigureOut">
              <a:rPr lang="en-IN" smtClean="0"/>
              <a:pPr/>
              <a:t>08-05-2026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D8B63-CEEB-40B6-812A-8994CDE1651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422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A541-74AD-4A70-8AFA-C7ABD81DEF50}" type="datetimeFigureOut">
              <a:rPr lang="en-IN" smtClean="0"/>
              <a:pPr/>
              <a:t>08-05-2026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D8B63-CEEB-40B6-812A-8994CDE1651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6451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A541-74AD-4A70-8AFA-C7ABD81DEF50}" type="datetimeFigureOut">
              <a:rPr lang="en-IN" smtClean="0"/>
              <a:pPr/>
              <a:t>08-05-2026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D8B63-CEEB-40B6-812A-8994CDE1651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1083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A541-74AD-4A70-8AFA-C7ABD81DEF50}" type="datetimeFigureOut">
              <a:rPr lang="en-IN" smtClean="0"/>
              <a:pPr/>
              <a:t>08-05-2026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D8B63-CEEB-40B6-812A-8994CDE1651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0202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A541-74AD-4A70-8AFA-C7ABD81DEF50}" type="datetimeFigureOut">
              <a:rPr lang="en-IN" smtClean="0"/>
              <a:pPr/>
              <a:t>08-05-2026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D8B63-CEEB-40B6-812A-8994CDE1651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1858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A541-74AD-4A70-8AFA-C7ABD81DEF50}" type="datetimeFigureOut">
              <a:rPr lang="en-IN" smtClean="0"/>
              <a:pPr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D8B63-CEEB-40B6-812A-8994CDE1651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54940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A541-74AD-4A70-8AFA-C7ABD81DEF50}" type="datetimeFigureOut">
              <a:rPr lang="en-IN" smtClean="0"/>
              <a:pPr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D8B63-CEEB-40B6-812A-8994CDE1651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0151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DBA541-74AD-4A70-8AFA-C7ABD81DEF50}" type="datetimeFigureOut">
              <a:rPr lang="en-IN" smtClean="0"/>
              <a:pPr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2D8B63-CEEB-40B6-812A-8994CDE1651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1066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8EDBF-3684-5E17-072D-73719826BC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1294" y="1214845"/>
            <a:ext cx="6858000" cy="636815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Border Surveillance System</a:t>
            </a:r>
            <a:endParaRPr lang="en-US" sz="2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8853CE-6BB5-AF0B-2619-62E8EDBC2B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34050" y="3340530"/>
            <a:ext cx="2850968" cy="1430383"/>
          </a:xfrm>
        </p:spPr>
        <p:txBody>
          <a:bodyPr>
            <a:noAutofit/>
          </a:bodyPr>
          <a:lstStyle/>
          <a:p>
            <a:pPr algn="l">
              <a:lnSpc>
                <a:spcPct val="120000"/>
              </a:lnSpc>
              <a:spcBef>
                <a:spcPts val="450"/>
              </a:spcBef>
            </a:pPr>
            <a:r>
              <a:rPr lang="en-IN" sz="15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by</a:t>
            </a:r>
          </a:p>
          <a:p>
            <a:pPr algn="l">
              <a:lnSpc>
                <a:spcPct val="100000"/>
              </a:lnSpc>
              <a:spcBef>
                <a:spcPts val="450"/>
              </a:spcBef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– Jainil Gupta</a:t>
            </a:r>
          </a:p>
          <a:p>
            <a:pPr algn="l">
              <a:lnSpc>
                <a:spcPct val="100000"/>
              </a:lnSpc>
              <a:spcBef>
                <a:spcPts val="450"/>
              </a:spcBef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Enrollment No - 220670132018</a:t>
            </a:r>
          </a:p>
          <a:p>
            <a:pPr algn="l">
              <a:lnSpc>
                <a:spcPct val="100000"/>
              </a:lnSpc>
              <a:spcBef>
                <a:spcPts val="450"/>
              </a:spcBef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 – prof. Chintan Rana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EB65900-A144-040B-CA3E-886B527FF5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544" y="145817"/>
            <a:ext cx="1345174" cy="100708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A3B5C34-1933-D502-76F4-6F8ED557DF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6395" y="213052"/>
            <a:ext cx="1838885" cy="878579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EF8853CE-6BB5-AF0B-2619-62E8EDBC2BCF}"/>
              </a:ext>
            </a:extLst>
          </p:cNvPr>
          <p:cNvSpPr txBox="1">
            <a:spLocks/>
          </p:cNvSpPr>
          <p:nvPr/>
        </p:nvSpPr>
        <p:spPr>
          <a:xfrm>
            <a:off x="1016527" y="2095105"/>
            <a:ext cx="6838406" cy="1175657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/>
          <a:p>
            <a:pPr algn="ctr" defTabSz="685800">
              <a:lnSpc>
                <a:spcPct val="120000"/>
              </a:lnSpc>
              <a:spcBef>
                <a:spcPts val="450"/>
              </a:spcBef>
              <a:defRPr/>
            </a:pPr>
            <a:r>
              <a:rPr lang="en-IN" sz="15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and Communication Technology</a:t>
            </a:r>
          </a:p>
          <a:p>
            <a:pPr algn="ctr" defTabSz="685800">
              <a:lnSpc>
                <a:spcPct val="120000"/>
              </a:lnSpc>
              <a:spcBef>
                <a:spcPts val="450"/>
              </a:spcBef>
              <a:defRPr/>
            </a:pPr>
            <a:r>
              <a:rPr lang="en-IN" sz="15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 INSTITUTE OF TECHNOLOGY AND ENGINEERING RESEARCH </a:t>
            </a:r>
          </a:p>
        </p:txBody>
      </p:sp>
    </p:spTree>
    <p:extLst>
      <p:ext uri="{BB962C8B-B14F-4D97-AF65-F5344CB8AC3E}">
        <p14:creationId xmlns:p14="http://schemas.microsoft.com/office/powerpoint/2010/main" val="4044516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6695" y="1"/>
            <a:ext cx="7886700" cy="994172"/>
          </a:xfrm>
        </p:spPr>
        <p:txBody>
          <a:bodyPr/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Table of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872837"/>
            <a:ext cx="7886700" cy="4125190"/>
          </a:xfrm>
        </p:spPr>
        <p:txBody>
          <a:bodyPr>
            <a:noAutofit/>
          </a:bodyPr>
          <a:lstStyle/>
          <a:p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Abstract</a:t>
            </a:r>
          </a:p>
          <a:p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Project Overview &amp; Objectives</a:t>
            </a:r>
          </a:p>
          <a:p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Software Requirements Specification (Find attachment for reference)</a:t>
            </a:r>
          </a:p>
          <a:p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Company Profile</a:t>
            </a:r>
          </a:p>
          <a:p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Tools &amp; Technologies Used</a:t>
            </a:r>
          </a:p>
          <a:p>
            <a:pPr marL="257175" indent="147638">
              <a:lnSpc>
                <a:spcPct val="107000"/>
              </a:lnSpc>
              <a:spcAft>
                <a:spcPts val="150"/>
              </a:spcAft>
              <a:buFont typeface="Wingdings" pitchFamily="2" charset="2"/>
              <a:buChar char="ü"/>
            </a:pPr>
            <a:r>
              <a:rPr lang="en-IN" sz="1500" kern="100" dirty="0">
                <a:latin typeface="Times New Roman" pitchFamily="18" charset="0"/>
                <a:ea typeface="Aptos" panose="020B0004020202020204" pitchFamily="34" charset="0"/>
                <a:cs typeface="Times New Roman" pitchFamily="18" charset="0"/>
              </a:rPr>
              <a:t>Key Functionalities/Features</a:t>
            </a:r>
          </a:p>
          <a:p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Progress Overview(</a:t>
            </a:r>
            <a:r>
              <a:rPr lang="en-US" sz="1500" kern="100" dirty="0">
                <a:latin typeface="Times New Roman" pitchFamily="18" charset="0"/>
                <a:ea typeface="Aptos" panose="020B0004020202020204" pitchFamily="34" charset="0"/>
                <a:cs typeface="Times New Roman" pitchFamily="18" charset="0"/>
              </a:rPr>
              <a:t>Current Status of the Project, Completed Phases ,Ongoing Tasks/Modules)</a:t>
            </a:r>
          </a:p>
          <a:p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Implementation screen shots(Code Blocks)</a:t>
            </a:r>
          </a:p>
          <a:p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Results &amp; Outcomes</a:t>
            </a:r>
          </a:p>
          <a:p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Working Demo </a:t>
            </a:r>
          </a:p>
          <a:p>
            <a:r>
              <a:rPr lang="en-US" sz="1500">
                <a:latin typeface="Times New Roman" pitchFamily="18" charset="0"/>
                <a:cs typeface="Times New Roman" pitchFamily="18" charset="0"/>
              </a:rPr>
              <a:t>Conclusion 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&amp; Future Scope</a:t>
            </a:r>
          </a:p>
          <a:p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References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48920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Jainil Gupta  |  220670132018  |  Microsoft Elevate Internship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595360" y="48920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822960"/>
            <a:ext cx="41148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2296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841248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362456"/>
            <a:ext cx="41148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62456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1380744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Internship – Microsoft Elevate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1901952"/>
            <a:ext cx="41148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901952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1920240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Modules (12-Week Plan)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0040" y="2441448"/>
            <a:ext cx="41148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441448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2459736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0040" y="2980944"/>
            <a:ext cx="41148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980944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" y="2999232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Objectives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0040" y="3520440"/>
            <a:ext cx="41148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52044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" y="3538728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0040" y="4059936"/>
            <a:ext cx="41148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4059936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" y="4078224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754880" y="822960"/>
            <a:ext cx="411480" cy="347472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82296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12080" y="84124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Methodology / Pipeline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754880" y="1362456"/>
            <a:ext cx="411480" cy="347472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1362456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12080" y="1380744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754880" y="1901952"/>
            <a:ext cx="411480" cy="347472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1901952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212080" y="192024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&amp; Code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754880" y="2441448"/>
            <a:ext cx="411480" cy="347472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2441448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12080" y="2459736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Model Metrics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754880" y="2980944"/>
            <a:ext cx="411480" cy="347472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2980944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212080" y="299923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Validation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754880" y="3520440"/>
            <a:ext cx="411480" cy="347472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352044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212080" y="353872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4754880" y="4059936"/>
            <a:ext cx="411480" cy="347472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54880" y="4059936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212080" y="4078224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48920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Jainil Gupta  |  220670132018  |  Microsoft Elevate Internship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595360" y="48920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8503920" cy="118872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229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documents a 12-week Microsoft Elevate Internship (Jan – Apr 2026) conducted through the Microsoft Elevate – GTU Program, covering Data Analytics, ML, Deep Learning, Power BI, Generative AI, and Azure Cloud Computing.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20040" y="2084832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Highlights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2395728"/>
            <a:ext cx="832104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Border Surveillance System (ABSS) with Real-Time Anomaly Detection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YOLOv8n model trained on DOTA + xView + VisDrone datasets — mAP50 = 0.478 (124% improvement over baseline)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threat classes: person, vehicle, crowd, military_vehicle, aircraft, ship, suspicious_object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Zone-based intrusion detection + temporal pattern analysis + ensemble anomaly detection (IF + RF)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dashboard, Azure Blob Storage + Cosmos DB, 285 automated pytest tests, CI/CD via GitHub Actions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AZ-900 Certification achieved with score 820/1000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475488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Keywords: YOLOv8 · Isolation Forest · Border Surveillance · Azure · Streamlit · Zone Detection · GTU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Internship – Microsoft Elevate Program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48920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Jainil Gupta  |  220670132018  |  Microsoft Elevate Internship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595360" y="48920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219456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0467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78608" y="841248"/>
            <a:ext cx="6309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Elevate – GTU Internship 2026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0040" y="1252728"/>
            <a:ext cx="219456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25272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Administered By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78608" y="1289304"/>
            <a:ext cx="6309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 Foundation &amp; FICE Education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20040" y="1700784"/>
            <a:ext cx="219456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70078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78608" y="1737360"/>
            <a:ext cx="6309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Weeks  |  January 01 – April 15, 2026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20040" y="2148840"/>
            <a:ext cx="219456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1488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78608" y="2185416"/>
            <a:ext cx="6309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(Live Sessions + Self-Paced Labs)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20040" y="2596896"/>
            <a:ext cx="219456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59689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78608" y="2633472"/>
            <a:ext cx="6309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Teams, Microsoft Learn, Azure Labs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20040" y="3044952"/>
            <a:ext cx="219456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04495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GTU Subject Code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578608" y="3081528"/>
            <a:ext cx="6309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3180701 – 8th Semester Internship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20040" y="3493008"/>
            <a:ext cx="219456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49300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Guide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578608" y="3529584"/>
            <a:ext cx="6309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Adarsh Gupta, Program Coordinator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320040" y="3941064"/>
            <a:ext cx="219456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394106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Guide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578608" y="3977640"/>
            <a:ext cx="6309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Chintan Rana, Asst. Prof., ICT Dept.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320040" y="4389120"/>
            <a:ext cx="219456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438912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578608" y="4425696"/>
            <a:ext cx="6309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Azure Fundamentals (AZ-900) – 820/1000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Modules – 12-Week Curriculum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48920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Jainil Gupta  |  220670132018  |  Microsoft Elevate Internship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595360" y="48920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4160520" cy="118872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804672"/>
            <a:ext cx="416052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804672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1–2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89888" y="80467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&amp; EDA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216152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NumPy, Matplotlib, Seaborn, statistical analysis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09160" y="804672"/>
            <a:ext cx="4160520" cy="118872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804672"/>
            <a:ext cx="416052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82312" y="804672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3–4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824728" y="80467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&amp; Business Intelligence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1216152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DAX, interactive dashboards, data modelling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2139696"/>
            <a:ext cx="4160520" cy="118872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139696"/>
            <a:ext cx="416052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2139696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5–6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389888" y="2139696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2551176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&amp; Unsupervised ML, Scikit-learn, evaluation metrics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09160" y="2139696"/>
            <a:ext cx="4160520" cy="118872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09160" y="2139696"/>
            <a:ext cx="416052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2139696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7–8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824728" y="2139696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&amp; Computer Vision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92040" y="2551176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ANN, CNN, TensorFlow/Keras, Transfer Learning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74320" y="3474720"/>
            <a:ext cx="4160520" cy="118872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3474720"/>
            <a:ext cx="416052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47472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9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389888" y="347472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&amp; Prompt Engg.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3886200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Copilot, prompt design, LLM fundamentals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709160" y="3474720"/>
            <a:ext cx="4160520" cy="118872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09160" y="3474720"/>
            <a:ext cx="416052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347472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10–12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824728" y="347472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Azure Cloud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92040" y="3886200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Storage, Cosmos DB, DevOps, CI/CD, AZ-900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48920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Jainil Gupta  |  220670132018  |  Microsoft Elevate Internship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595360" y="48920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77724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 surveillance generates vast visual data that is impossible to monitor through human observation alone.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325880"/>
            <a:ext cx="73152" cy="530352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2588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Monitoring Gap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57276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staff to cover extensive border areas with multiple simultaneous camera feeds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993392"/>
            <a:ext cx="73152" cy="530352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99339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Threat Detection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24028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analysis introduces 5–15 minute latency between intrusion event and operator response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660904"/>
            <a:ext cx="73152" cy="530352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660904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False Alarm Rates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290779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Animals, weather, and environmental noise trigger unnecessary alerts, causing operator fatigue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3328416"/>
            <a:ext cx="73152" cy="530352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328416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Constraints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3575304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Deploying human personnel in remote and harsh terrain is logistically expensive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3995928"/>
            <a:ext cx="73152" cy="530352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99592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Silos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" y="4242816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feeds, motion sensors, and patrol logs exist as disconnected data streams with no integration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48920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Jainil Gupta  |  220670132018  |  Microsoft Elevate Internship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595360" y="48920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74980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Border Surveillance System (ABSS) with Real-Time Anomaly Detection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" y="1371600"/>
            <a:ext cx="8229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intelligent video surveillance pipeline developed as capstone for Microsoft Elevate Internship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surveillance video footage using OpenCV and custom YOLOv8n object detection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7 threat classes: person, vehicle, crowd, military_vehicle, aircraft, ship, suspicious_object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Dual-stage anomaly scoring: Unsupervised (Isolation Forest) + Supervised (Random Forest) ensemble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zone intrusion detection across 3 configurable threat zones using ray-casting algorithm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Multi-frame temporal pattern analysis via IoU-based object tracking sliding window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prioritised alerts (CRITICAL / HIGH / MEDIUM / LOW) with Azure cloud integration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256032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626864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github.com/jainilgupta02  |  AZ-900 Certification: 820/1000  |  285 Automated Tests Passed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48920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Jainil Gupta  |  220670132018  |  Microsoft Elevate Internship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595360" y="48920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4206240" cy="86868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804672"/>
            <a:ext cx="347472" cy="8686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04672"/>
            <a:ext cx="3474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896112"/>
            <a:ext cx="365760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custom YOLOv8n model on DOTA + xView + VisDrone to detect 7 threat classes with mAP50 &gt; 40%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54880" y="804672"/>
            <a:ext cx="4206240" cy="86868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804672"/>
            <a:ext cx="347472" cy="8686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804672"/>
            <a:ext cx="3474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66360" y="896112"/>
            <a:ext cx="365760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unsupervised anomaly detection using Isolation Forest on a 10-dimensional feature vector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1810512"/>
            <a:ext cx="4206240" cy="86868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1810512"/>
            <a:ext cx="347472" cy="8686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1810512"/>
            <a:ext cx="3474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5800" y="1901952"/>
            <a:ext cx="365760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supervised anomaly classification (Random Forest) for CRITICAL / HIGH / MEDIUM / LOW priority levels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54880" y="1810512"/>
            <a:ext cx="4206240" cy="86868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1810512"/>
            <a:ext cx="347472" cy="8686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1810512"/>
            <a:ext cx="3474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166360" y="1901952"/>
            <a:ext cx="365760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spatial zone-based intrusion detection for 3 configurable surveillance zones (ray-casting algorithm)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74320" y="2816352"/>
            <a:ext cx="4206240" cy="86868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2816352"/>
            <a:ext cx="347472" cy="8686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2816352"/>
            <a:ext cx="3474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5800" y="2907792"/>
            <a:ext cx="365760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multi-frame temporal pattern analysis detecting 5 behavioural anomaly types via IoU tracking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754880" y="2816352"/>
            <a:ext cx="4206240" cy="86868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2816352"/>
            <a:ext cx="347472" cy="8686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2816352"/>
            <a:ext cx="3474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166360" y="2907792"/>
            <a:ext cx="365760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Azure Blob Storage (alert frame storage) and Cosmos DB (alert metadata persistence)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74320" y="3822192"/>
            <a:ext cx="4206240" cy="86868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822192"/>
            <a:ext cx="347472" cy="8686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3822192"/>
            <a:ext cx="3474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85800" y="3913632"/>
            <a:ext cx="365760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real-time Streamlit operational dashboard with geographic visualization and email alerting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754880" y="3822192"/>
            <a:ext cx="4206240" cy="86868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0" y="3822192"/>
            <a:ext cx="347472" cy="8686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3822192"/>
            <a:ext cx="3474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166360" y="3913632"/>
            <a:ext cx="365760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all modules through ≥200 automated pytest test cases with GitHub Actions CI/CD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– 6-Stage AI Pipeline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48920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Jainil Gupta  |  220670132018  |  Microsoft Elevate Internship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595360" y="48920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01168" y="777240"/>
            <a:ext cx="1298448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777240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1168" y="1115568"/>
            <a:ext cx="1298448" cy="228600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" y="1152144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6032" y="1508760"/>
            <a:ext cx="118872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reads video frames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to 640×640, frame skip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flow for motion scoring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499616" y="1143000"/>
            <a:ext cx="182880" cy="201168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99616" y="1133856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682496" y="777240"/>
            <a:ext cx="1298448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82496" y="777240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682496" y="1115568"/>
            <a:ext cx="1298448" cy="228600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82496" y="1152144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737360" y="1508760"/>
            <a:ext cx="118872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YOLOv8n inference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threat class detection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 box + confidence score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980944" y="1143000"/>
            <a:ext cx="182880" cy="201168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80944" y="1133856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163824" y="777240"/>
            <a:ext cx="1298448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63824" y="777240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163824" y="1115568"/>
            <a:ext cx="1298448" cy="228600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63824" y="1152144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Analysis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18688" y="1508760"/>
            <a:ext cx="118872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Ray-casting point-in-polygon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zones: Border / Buffer / Obs.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Intrusion flag per detection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462272" y="1143000"/>
            <a:ext cx="182880" cy="201168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62272" y="1133856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645152" y="777240"/>
            <a:ext cx="1298448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45152" y="777240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45152" y="1115568"/>
            <a:ext cx="1298448" cy="228600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45152" y="1152144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Analysis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00016" y="1508760"/>
            <a:ext cx="118872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IoU-based object tracker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 window (N frames)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behavioural anomaly types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943600" y="1143000"/>
            <a:ext cx="182880" cy="201168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0" y="1133856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126480" y="777240"/>
            <a:ext cx="1298448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26480" y="777240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26480" y="1115568"/>
            <a:ext cx="1298448" cy="228600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26480" y="1152144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181344" y="1508760"/>
            <a:ext cx="118872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(unsupervised)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(supervised)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CRITICAL→LOW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424928" y="1143000"/>
            <a:ext cx="182880" cy="201168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24928" y="1133856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7607808" y="777240"/>
            <a:ext cx="1298448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07808" y="777240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6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607808" y="1115568"/>
            <a:ext cx="1298448" cy="228600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607808" y="1152144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&amp; Storage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662672" y="1508760"/>
            <a:ext cx="118872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Prioritised alert merge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 + Cosmos DB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Streamlit dashboard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01168" y="3547872"/>
            <a:ext cx="8732520" cy="64008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0040" y="35661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Integration Layer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2377440" y="35661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 Storage (alert-frames container)  →  Azure Cosmos DB (SurveillanceDB / Alerts)  →  Streamlit Dashboard (real-time refresh)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320040" y="427939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Fail-safe degradation: system runs without Azure, without Random Forest, and without zone/temporal analyzers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48920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Jainil Gupta  |  220670132018  |  Microsoft Elevate Internship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595360" y="48920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749808"/>
          <a:ext cx="8503920" cy="286512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 / Library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 Detection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YOLOv8n (Ultralytics)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Custom-trained, 7 classes, 30 epochs, DOTA+xView+VisDrone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Anomaly Detection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Isolation Forest + Random Forest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Scikit-learn 1.4+, 10-dim feature vector, 200 estimators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Processing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OpenCV 4.x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Farneback optical flow, VideoWriter, frame extraction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Streamlit + Plotly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Multi-page layout, st_autorefresh, Scatter Mapbox, donut charts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Storage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Blob Storage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azure-storage-blob SDK 12.19, alert-frames container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Database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Cosmos DB (NoSQL)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azure-cosmos SDK, SurveillanceDB, Alerts collection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Alerts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SendGrid / Gmail SMTP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HTML email templates, SendGrid API v3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CI/CD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Actions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YAML pipelines, Ubuntu-latest, Python 3.10.20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285 tests, 6 modules, mock-based isolation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Science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Pandas, NumPy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DataFrames, array operations, statistical summaries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Training Methodology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48920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Jainil Gupta  |  220670132018  |  Microsoft Elevate Internship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595360" y="48920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749808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Datasets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0040" y="1143000"/>
            <a:ext cx="2697480" cy="36576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1430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499616"/>
            <a:ext cx="2697480" cy="114300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554480"/>
            <a:ext cx="2514600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Aerial imagery dataset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280K annotated objects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object categories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+ infrastructure detection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143000"/>
            <a:ext cx="2697480" cy="36576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1430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xView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00400" y="1499616"/>
            <a:ext cx="2697480" cy="114300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554480"/>
            <a:ext cx="2514600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imagery dataset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1M+ annotated objects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0.3m resolution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 training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80760" y="1143000"/>
            <a:ext cx="2697480" cy="36576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0760" y="11430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VisDrone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080760" y="1499616"/>
            <a:ext cx="2697480" cy="114300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1554480"/>
            <a:ext cx="2514600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surveillance imagery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Crowd, person, vehicle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capture scenarios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+ rural environments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0040" y="278892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&amp; Anomaly Pipeline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92608" y="3200400"/>
            <a:ext cx="1234440" cy="8046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2608" y="3200400"/>
            <a:ext cx="1234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527048" y="3328416"/>
            <a:ext cx="2194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746504" y="3200400"/>
            <a:ext cx="1234440" cy="8046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46504" y="3200400"/>
            <a:ext cx="1234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980944" y="3328416"/>
            <a:ext cx="2194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200400" y="3200400"/>
            <a:ext cx="1234440" cy="8046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0" y="3200400"/>
            <a:ext cx="1234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(10-dim)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434840" y="3328416"/>
            <a:ext cx="2194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654296" y="3200400"/>
            <a:ext cx="1234440" cy="804672"/>
          </a:xfrm>
          <a:prstGeom prst="rect">
            <a:avLst/>
          </a:prstGeom>
          <a:solidFill>
            <a:srgbClr val="0070C0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54296" y="3200400"/>
            <a:ext cx="1234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(IF)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888736" y="3328416"/>
            <a:ext cx="2194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08192" y="3200400"/>
            <a:ext cx="1234440" cy="804672"/>
          </a:xfrm>
          <a:prstGeom prst="rect">
            <a:avLst/>
          </a:prstGeom>
          <a:solidFill>
            <a:srgbClr val="0070C0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08192" y="3200400"/>
            <a:ext cx="1234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(RF)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342632" y="3328416"/>
            <a:ext cx="2194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562088" y="3200400"/>
            <a:ext cx="1234440" cy="804672"/>
          </a:xfrm>
          <a:prstGeom prst="rect">
            <a:avLst/>
          </a:prstGeom>
          <a:solidFill>
            <a:srgbClr val="0070C0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62088" y="3200400"/>
            <a:ext cx="1234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11480" y="4160520"/>
            <a:ext cx="83210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class imbalance was addressed by capping dominant classes and upsampling rare ones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 trained for 30 epochs — mAP50 improved from 0.213 (baseline) to 0.478 (balanced)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uses 10 features: detection count, confidence scores, optical flow, crowd density, zone flags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48920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Jainil Gupta  |  220670132018  |  Microsoft Elevate Internship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595360" y="48920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2788920" cy="182880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777240"/>
            <a:ext cx="2788920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7724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Object Detection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20040" y="1234440"/>
            <a:ext cx="2560320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YOLOv8n – 7 threat classes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 box + confidence scoring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DOTA + xView + VisDrone training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777240"/>
            <a:ext cx="2788920" cy="182880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777240"/>
            <a:ext cx="2788920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77724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Zone-Based Intrusion Detection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291840" y="1234440"/>
            <a:ext cx="2560320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configurable threat zones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Ray-casting point-in-polygon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 / Buffer / Observation zones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777240"/>
            <a:ext cx="2788920" cy="182880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777240"/>
            <a:ext cx="2788920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77724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Pattern Analysis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263640" y="1234440"/>
            <a:ext cx="2560320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IoU-based multi-frame tracking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behavioural anomaly types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 window across N frames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8600" y="2788920"/>
            <a:ext cx="2788920" cy="182880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2788920"/>
            <a:ext cx="2788920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78892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Anomaly Detection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20040" y="3246120"/>
            <a:ext cx="2560320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(unsupervised)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(supervised)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10-dim feature vector scoring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0" y="2788920"/>
            <a:ext cx="2788920" cy="182880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2788920"/>
            <a:ext cx="2788920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46120" y="278892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 System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291840" y="3246120"/>
            <a:ext cx="2560320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/ HIGH / MEDIUM / LOW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via SendGrid / Gmail SMTP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Cosmos DB persistence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72200" y="2788920"/>
            <a:ext cx="2788920" cy="182880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72200" y="2788920"/>
            <a:ext cx="2788920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278892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263640" y="3246120"/>
            <a:ext cx="2560320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Multi-page operational layout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threat visualization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Auto-refresh, donut charts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– Code Snippets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48920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Jainil Gupta  |  220670132018  |  Microsoft Elevate Internship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595360" y="48920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74980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Object Detection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800600" y="74980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Anomaly Detection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0040" y="1005840"/>
            <a:ext cx="4114800" cy="1417320"/>
          </a:xfrm>
          <a:prstGeom prst="rect">
            <a:avLst/>
          </a:prstGeom>
          <a:solidFill>
            <a:srgbClr val="1E2A38"/>
          </a:solidFill>
          <a:ln w="12700">
            <a:solidFill>
              <a:srgbClr val="3048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033272"/>
            <a:ext cx="393192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ultralytics import YOLO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YOLO('border_v2_balanced.pt')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 = model.predict(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source='frame.jpg', conf=0.25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r in results: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box in r.boxes: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cls = model.names[int(box.cls[0])]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800600" y="1005840"/>
            <a:ext cx="4114800" cy="1417320"/>
          </a:xfrm>
          <a:prstGeom prst="rect">
            <a:avLst/>
          </a:prstGeom>
          <a:solidFill>
            <a:srgbClr val="1E2A38"/>
          </a:solidFill>
          <a:ln w="12700">
            <a:solidFill>
              <a:srgbClr val="3048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033272"/>
            <a:ext cx="393192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sklearn.ensemble import 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IsolationForest, RandomForestClassifier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iso = IsolationForest(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contamination=0.1, random_state=42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iso_pred = iso.fit_predict(features)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 = RandomForestClassifier(n_estimators=200)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rf_pred = rf.predict(X_test)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0040" y="254203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Intrusion Detection (Ray-Casting)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800600" y="254203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 Storage + Cosmos DB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0040" y="2798064"/>
            <a:ext cx="4114800" cy="1920240"/>
          </a:xfrm>
          <a:prstGeom prst="rect">
            <a:avLst/>
          </a:prstGeom>
          <a:solidFill>
            <a:srgbClr val="1E2A38"/>
          </a:solidFill>
          <a:ln w="12700">
            <a:solidFill>
              <a:srgbClr val="3048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83464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Ray-casting point-in-polygon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point_in_zone(x, y, polygon):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inside = False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 = len(polygon)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 = n - 1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i in range(n):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xi, yi = polygon[i]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xj, yj = polygon[j]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((yi&gt;y)!=(yj&gt;y)) and \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(x&lt;(xj-xi)*(y-yi)/(yj-yi)+xi):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inside = not inside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 = i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inside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00600" y="2798064"/>
            <a:ext cx="4114800" cy="1920240"/>
          </a:xfrm>
          <a:prstGeom prst="rect">
            <a:avLst/>
          </a:prstGeom>
          <a:solidFill>
            <a:srgbClr val="1E2A38"/>
          </a:solidFill>
          <a:ln w="12700">
            <a:solidFill>
              <a:srgbClr val="3048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283464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azure.storage.blob import BlobServiceClient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azure.cosmos import CosmosClient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Upload alert frame to Blob Storage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blob_svc = BlobServiceClient\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.from_connection_string(conn_str)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blob_svc.get_container_client(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"alert-frames"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client.upload_blob(frame_bytes)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Persist alert to Cosmos DB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container.upsert_item(alert_doc)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Model Metrics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48920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Jainil Gupta  |  220670132018  |  Microsoft Elevate Internship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595360" y="48920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182880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50392"/>
            <a:ext cx="182880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0.478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20040" y="1330452"/>
            <a:ext cx="182880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mAP50 (Final Model)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331720" y="777240"/>
            <a:ext cx="1828800" cy="100584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31720" y="850392"/>
            <a:ext cx="182880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+124%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331720" y="1330452"/>
            <a:ext cx="182880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vs Baseline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43400" y="777240"/>
            <a:ext cx="1828800" cy="1005840"/>
          </a:xfrm>
          <a:prstGeom prst="rect">
            <a:avLst/>
          </a:prstGeom>
          <a:solidFill>
            <a:srgbClr val="217346"/>
          </a:solidFill>
          <a:ln w="12700">
            <a:solidFill>
              <a:srgbClr val="2173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43400" y="850392"/>
            <a:ext cx="182880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0.457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343400" y="1330452"/>
            <a:ext cx="182880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(from 0.043)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355080" y="777240"/>
            <a:ext cx="1828800" cy="1005840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850392"/>
            <a:ext cx="182880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0.870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355080" y="1330452"/>
            <a:ext cx="182880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Class mAP50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20040" y="192024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Class-wise mAP50 Comparison (Baseline vs Balanced Training)</a:t>
            </a:r>
            <a:endParaRPr lang="en-US" sz="140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320040" y="2267712"/>
          <a:ext cx="850392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– Streamlit Dashboard &amp; System Output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48920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Jainil Gupta  |  220670132018  |  Microsoft Elevate Internship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595360" y="48920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28600" y="749808"/>
            <a:ext cx="2788920" cy="2148840"/>
          </a:xfrm>
          <a:prstGeom prst="rect">
            <a:avLst/>
          </a:prstGeom>
          <a:solidFill>
            <a:srgbClr val="E8EEF5"/>
          </a:solidFill>
          <a:ln w="12700">
            <a:solidFill>
              <a:srgbClr val="B0C8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749808"/>
            <a:ext cx="278892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Area ]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2898648"/>
            <a:ext cx="278892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2898648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– Command Center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01752" y="32918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 feed, detection counters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breakdown, system status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749808"/>
            <a:ext cx="2788920" cy="2148840"/>
          </a:xfrm>
          <a:prstGeom prst="rect">
            <a:avLst/>
          </a:prstGeom>
          <a:solidFill>
            <a:srgbClr val="E8EEF5"/>
          </a:solidFill>
          <a:ln w="12700">
            <a:solidFill>
              <a:srgbClr val="B0C8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749808"/>
            <a:ext cx="278892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Area ]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2898648"/>
            <a:ext cx="278892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2898648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– Enhanced Analysis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273552" y="32918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threat map, anomaly heatmap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intrusion timeline charts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72200" y="749808"/>
            <a:ext cx="2788920" cy="2148840"/>
          </a:xfrm>
          <a:prstGeom prst="rect">
            <a:avLst/>
          </a:prstGeom>
          <a:solidFill>
            <a:srgbClr val="E8EEF5"/>
          </a:solidFill>
          <a:ln w="12700">
            <a:solidFill>
              <a:srgbClr val="B0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749808"/>
            <a:ext cx="278892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Area ]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72200" y="2898648"/>
            <a:ext cx="278892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9" name="Text 17"/>
          <p:cNvSpPr/>
          <p:nvPr/>
        </p:nvSpPr>
        <p:spPr>
          <a:xfrm>
            <a:off x="6172200" y="2898648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245352" y="32918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frame upload confirmation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Cosmos DB metadata persistence log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0040" y="404164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Replace placeholder boxes with actual dashboard screenshots from your project demo for the final viva submission.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11480" y="436168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Multi-page layout: Command Center  |  Enhanced Analysis  |  Configuration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Auto-refresh via st_autorefresh, Scatter Mapbox for geographic visualization, Plotly donut charts</a:t>
            </a:r>
            <a:endParaRPr lang="en-US" sz="12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A2C907E-EAD6-D912-C429-E2953805A2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749808"/>
            <a:ext cx="2788920" cy="214884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A9B3D5C7-F2B6-99F7-D981-4C332D5D4F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749808"/>
            <a:ext cx="2788920" cy="214884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F6159A13-3395-3171-4B3C-D22C704D83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749807"/>
            <a:ext cx="2788920" cy="214884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Validation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48920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Jainil Gupta  |  220670132018  |  Microsoft Elevate Internship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595360" y="48920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749808"/>
            <a:ext cx="1828800" cy="9144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229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285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20040" y="125272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Automated Tests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331720" y="749808"/>
            <a:ext cx="1828800" cy="914400"/>
          </a:xfrm>
          <a:prstGeom prst="rect">
            <a:avLst/>
          </a:prstGeom>
          <a:solidFill>
            <a:srgbClr val="217346"/>
          </a:solidFill>
          <a:ln w="12700">
            <a:solidFill>
              <a:srgbClr val="2173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31720" y="8229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331720" y="125272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Passed (CI/CD)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43400" y="749808"/>
            <a:ext cx="1828800" cy="91440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43400" y="8229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343400" y="125272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Tested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355080" y="749808"/>
            <a:ext cx="1828800" cy="914400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8229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355080" y="125272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Pipeline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20040" y="182880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Suite Summary by Module</a:t>
            </a:r>
            <a:endParaRPr lang="en-US" sz="1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157984"/>
          <a:ext cx="8503920" cy="1920240"/>
        </p:xfrm>
        <a:graphic>
          <a:graphicData uri="http://schemas.openxmlformats.org/drawingml/2006/table">
            <a:tbl>
              <a:tblPr/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 Focus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test_preprocessing.py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 tests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 extraction, resize, flow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test_detector.py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 tests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Detection confidence, NMS, class mapping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test_anomaly_detector.py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 tests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scoring, RF classifier, priority mapping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test_zone_analyzer.py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 tests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Ray-casting, zone config, edge cases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test_temporal_analyzer.py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 tests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IoU tracking, pattern detection, window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test_alert_manager.py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tests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 merge, Azure upload, email dispatch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320040" y="4224528"/>
            <a:ext cx="832104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tests use mock-based module isolation (no live Azure or camera required)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YAML pipeline runs on every git push — Ubuntu-latest, Python 3.10.20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48920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Jainil Gupta  |  220670132018  |  Microsoft Elevate Internship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595360" y="48920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749808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Achieved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1143000"/>
            <a:ext cx="8321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and deployed a production-grade AI surveillance system integrating Computer Vision, ML, and Cloud Computing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YOLOv8n model achieved mAP50 = 0.478 — a 124% improvement — validating the balanced training strategy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improved nearly 10× (0.043 → 0.457); Ship class detection rose from 0.000 to 0.870 mAP50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Zone-based intrusion detection and 5-type temporal pattern analysis deliver advanced spatial-temporal threat intelligence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285 automated pytest tests with GitHub Actions CI/CD ensure production-quality code reliability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 Storage + Cosmos DB provide scalable cloud persistence; Streamlit dashboard enables real-time monitoring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AZ-900 Microsoft Azure Fundamentals certification achieved with score 820/1000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Practically applies all 12 weeks of Microsoft Elevate curriculum in a real national-security scenario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526280"/>
            <a:ext cx="9144000" cy="4114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544568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Automates border threat detection, reduces manual monitoring burden, improves response time, and scales to multi-camera infrastructure via Azure Cloud.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48920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Jainil Gupta  |  220670132018  |  Microsoft Elevate Internship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595360" y="48920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4206240" cy="118872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777240"/>
            <a:ext cx="4206240" cy="347472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7772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Acceleration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1179576"/>
            <a:ext cx="39776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TensorRT / ONNX Runtime for GPU-accelerated YOLOv8 inference to achieve real-time FPS at edge devices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54880" y="777240"/>
            <a:ext cx="4206240" cy="118872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777240"/>
            <a:ext cx="4206240" cy="347472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7772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Multi-Camera Streaming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64608" y="1179576"/>
            <a:ext cx="39776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architecture to handle concurrent RTSP/HLS feeds from multiple cameras using async processing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2103120"/>
            <a:ext cx="4206240" cy="118872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103120"/>
            <a:ext cx="4206240" cy="347472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10312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Model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4048" y="2505456"/>
            <a:ext cx="39776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YOLOv8m or YOLOv8l on expanded dataset (DOTA v2, VisDrone-DET) for higher mAP50 and smaller objects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54880" y="2103120"/>
            <a:ext cx="4206240" cy="118872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2103120"/>
            <a:ext cx="4206240" cy="347472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210312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Facial/Plate Recognition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64608" y="2505456"/>
            <a:ext cx="39776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optional modules for face recognition and license plate detection in high-priority intrusion zones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74320" y="3429000"/>
            <a:ext cx="4206240" cy="118872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429000"/>
            <a:ext cx="4206240" cy="347472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2900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Deployment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84048" y="3831336"/>
            <a:ext cx="39776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models on NVIDIA Jetson or Raspberry Pi + Coral TPU for on-site low-latency surveillance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754880" y="3429000"/>
            <a:ext cx="4206240" cy="118872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3429000"/>
            <a:ext cx="4206240" cy="347472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342900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Scaling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64608" y="3831336"/>
            <a:ext cx="39776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 pipeline with Docker Compose and orchestrate with Azure Kubernetes Service for enterprise scaling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491490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Jainil Gupta  |  220670132018  |  Microsoft Elevate Internship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595360" y="48920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7772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05156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DOTA: captain-whu.github.io/DOTA/ — 280K annotated aerial objects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11480" y="132588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xView: xviewdataset.org/ — 1M+ satellite-annotated objects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11480" y="160020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VisDrone: github.com/VisDrone — Drone aerial surveillance benchmark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20040" y="198424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2258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/ Ultralytics: docs.ultralytics.com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11480" y="253288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Azure: azure.microsoft.com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11480" y="280720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Streamlit: streamlit.io  |  Scikit-learn: scikit-learn.org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20040" y="3191256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3465576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Anomaly Detection in Surveillance Videos – Sultani et al. (CVPR 2018)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11480" y="3739896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YOLOv8: Advanced Object Detection Architecture – Jocher et al. (Ultralytics, 2023)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11480" y="4014216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Enhancing Border Security Through Computer Vision – IEEE Transactions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11480" y="4288536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– Liu, Ting &amp; Zhou (ICDM 2008)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20040" y="4529094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727097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Elevate – GTU Internship Program, Edunet Foundation &amp; FICE Education (2026)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11480" y="5221224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Learn Platform: learn.microsoft.com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11480" y="5495544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AZ-900 Microsoft Azure Fundamentals – Certification Documentation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A8C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828800" y="2176272"/>
            <a:ext cx="5486400" cy="36576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233172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Jainil Gupta  |  Enrollment No: 220670132018
</a:t>
            </a:r>
            <a:r>
              <a:rPr lang="en-US" sz="1300" dirty="0">
                <a:solidFill>
                  <a:srgbClr val="CC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 Jainilgupta93@outlook.com
GitHub: github.com/jainilgupta02
LinkedIn: linkedin.com/in/jainilgupta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A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 Institute of Technology and Engineering Research  |  Microsoft Elevate Internship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2679</Words>
  <Application>Microsoft Office PowerPoint</Application>
  <PresentationFormat>On-screen Show (16:9)</PresentationFormat>
  <Paragraphs>485</Paragraphs>
  <Slides>21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</vt:lpstr>
      <vt:lpstr>Calibri</vt:lpstr>
      <vt:lpstr>Calibri Light</vt:lpstr>
      <vt:lpstr>Courier New</vt:lpstr>
      <vt:lpstr>Times New Roman</vt:lpstr>
      <vt:lpstr>Wingdings</vt:lpstr>
      <vt:lpstr>Office Theme</vt:lpstr>
      <vt:lpstr>Office 2013 - 2022 Theme</vt:lpstr>
      <vt:lpstr>AI-Powered Border Surveillance System</vt:lpstr>
      <vt:lpstr>Table of Content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Border Surveillance System</dc:title>
  <dc:subject>PptxGenJS Presentation</dc:subject>
  <dc:creator>Jainil Gupta</dc:creator>
  <cp:lastModifiedBy>Jainil Gupta</cp:lastModifiedBy>
  <cp:revision>3</cp:revision>
  <dcterms:created xsi:type="dcterms:W3CDTF">2026-04-15T19:12:59Z</dcterms:created>
  <dcterms:modified xsi:type="dcterms:W3CDTF">2026-05-08T12:02:53Z</dcterms:modified>
</cp:coreProperties>
</file>