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5"/>
  </p:notesMasterIdLst>
  <p:sldIdLst>
    <p:sldId id="277" r:id="rId3"/>
    <p:sldId id="27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mAP50</c:v>
                </c:pt>
              </c:strCache>
            </c:strRef>
          </c:tx>
          <c:spPr>
            <a:solidFill>
              <a:srgbClr val="B0C4D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person</c:v>
                </c:pt>
                <c:pt idx="1">
                  <c:v>vehicle</c:v>
                </c:pt>
                <c:pt idx="2">
                  <c:v>crowd</c:v>
                </c:pt>
                <c:pt idx="3">
                  <c:v>military_vehicle</c:v>
                </c:pt>
                <c:pt idx="4">
                  <c:v>aircraft</c:v>
                </c:pt>
                <c:pt idx="5">
                  <c:v>ship</c:v>
                </c:pt>
                <c:pt idx="6">
                  <c:v>suspicious_obj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0.14199999999999999</c:v>
                </c:pt>
                <c:pt idx="1">
                  <c:v>0.38900000000000001</c:v>
                </c:pt>
                <c:pt idx="2">
                  <c:v>0.156</c:v>
                </c:pt>
                <c:pt idx="3">
                  <c:v>0.28699999999999998</c:v>
                </c:pt>
                <c:pt idx="4">
                  <c:v>0.312</c:v>
                </c:pt>
                <c:pt idx="5">
                  <c:v>0</c:v>
                </c:pt>
                <c:pt idx="6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7-48E7-9CA9-0021AAF3A5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mAP50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person</c:v>
                </c:pt>
                <c:pt idx="1">
                  <c:v>vehicle</c:v>
                </c:pt>
                <c:pt idx="2">
                  <c:v>crowd</c:v>
                </c:pt>
                <c:pt idx="3">
                  <c:v>military_vehicle</c:v>
                </c:pt>
                <c:pt idx="4">
                  <c:v>aircraft</c:v>
                </c:pt>
                <c:pt idx="5">
                  <c:v>ship</c:v>
                </c:pt>
                <c:pt idx="6">
                  <c:v>suspicious_obj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0.312</c:v>
                </c:pt>
                <c:pt idx="1">
                  <c:v>0.52100000000000002</c:v>
                </c:pt>
                <c:pt idx="2">
                  <c:v>0.44500000000000001</c:v>
                </c:pt>
                <c:pt idx="3">
                  <c:v>0.498</c:v>
                </c:pt>
                <c:pt idx="4">
                  <c:v>0.46700000000000003</c:v>
                </c:pt>
                <c:pt idx="5">
                  <c:v>0.87</c:v>
                </c:pt>
                <c:pt idx="6">
                  <c:v>0.28899999999999998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7-48E7-9CA9-0021AAF3A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48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0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07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14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29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2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5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08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0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85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494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5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A541-74AD-4A70-8AFA-C7ABD81DEF5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6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EDBF-3684-5E17-072D-73719826B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294" y="1214845"/>
            <a:ext cx="6858000" cy="63681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4050" y="3340530"/>
            <a:ext cx="2850968" cy="1430383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450"/>
              </a:spcBef>
            </a:pPr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Jainil Gupta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 - 220670132018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prof. Chintan Rana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65900-A144-040B-CA3E-886B527F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44" y="145817"/>
            <a:ext cx="1345174" cy="10070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3B5C34-1933-D502-76F4-6F8ED557D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95" y="213052"/>
            <a:ext cx="1838885" cy="87857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 txBox="1">
            <a:spLocks/>
          </p:cNvSpPr>
          <p:nvPr/>
        </p:nvSpPr>
        <p:spPr>
          <a:xfrm>
            <a:off x="1016527" y="2095105"/>
            <a:ext cx="6838406" cy="117565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algn="ctr" defTabSz="685800">
              <a:lnSpc>
                <a:spcPct val="120000"/>
              </a:lnSpc>
              <a:spcBef>
                <a:spcPts val="450"/>
              </a:spcBef>
              <a:defRPr/>
            </a:pPr>
            <a:r>
              <a:rPr lang="en-IN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Communication Technology</a:t>
            </a:r>
          </a:p>
          <a:p>
            <a:pPr algn="ctr" defTabSz="685800">
              <a:lnSpc>
                <a:spcPct val="120000"/>
              </a:lnSpc>
              <a:spcBef>
                <a:spcPts val="450"/>
              </a:spcBef>
              <a:defRPr/>
            </a:pPr>
            <a:r>
              <a:rPr lang="en-IN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 INSTITUTE OF TECHNOLOGY AND ENGINEERING RESEARCH </a:t>
            </a:r>
          </a:p>
        </p:txBody>
      </p:sp>
    </p:spTree>
    <p:extLst>
      <p:ext uri="{BB962C8B-B14F-4D97-AF65-F5344CB8AC3E}">
        <p14:creationId xmlns:p14="http://schemas.microsoft.com/office/powerpoint/2010/main" val="40445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695" y="1"/>
            <a:ext cx="7886700" cy="994172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72837"/>
            <a:ext cx="7886700" cy="4125190"/>
          </a:xfrm>
        </p:spPr>
        <p:txBody>
          <a:bodyPr>
            <a:noAutofit/>
          </a:bodyPr>
          <a:lstStyle/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Project Overview &amp; Objectives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Software Requirements Specification (Find attachment for reference)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Company Profile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Tools &amp; Technologies Used</a:t>
            </a:r>
          </a:p>
          <a:p>
            <a:pPr marL="257175" indent="147638">
              <a:lnSpc>
                <a:spcPct val="107000"/>
              </a:lnSpc>
              <a:spcAft>
                <a:spcPts val="150"/>
              </a:spcAft>
              <a:buFont typeface="Wingdings" pitchFamily="2" charset="2"/>
              <a:buChar char="ü"/>
            </a:pPr>
            <a:r>
              <a:rPr lang="en-IN" sz="1500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Key Functionalities/Features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Progress Overview(</a:t>
            </a:r>
            <a:r>
              <a:rPr lang="en-US" sz="1500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Current Status of the Project, Completed Phases ,Ongoing Tasks/Modules)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Implementation screen shots(Code Blocks)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Results &amp; Outcomes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Working Demo </a:t>
            </a:r>
          </a:p>
          <a:p>
            <a:r>
              <a:rPr lang="en-US" sz="1500">
                <a:latin typeface="Times New Roman" pitchFamily="18" charset="0"/>
                <a:cs typeface="Times New Roman" pitchFamily="18" charset="0"/>
              </a:rPr>
              <a:t>Conclusion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&amp; Future Scope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References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Anomaly Detection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965960"/>
            <a:ext cx="5486400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220670132018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Chintan Rana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&amp; Communication Technology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Institute of Technology and Engineering Research
</a:t>
            </a:r>
            <a:r>
              <a:rPr lang="en-US" sz="11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to Gujarat Technological University, Ahmedabad
Microsoft Elevate Internship  |  January –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8412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62456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624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380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Internship – Microsoft Elevate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019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9202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(12-Week Plan)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41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4597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809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999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20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5387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599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0782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822960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841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 / Pipeline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362456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624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3807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901952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9019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1920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2441448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441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4597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Metrics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2980944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809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29992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3520440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520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5387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754880" y="4059936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0599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40782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a 12-week Microsoft Elevate Internship (Jan – Apr 2026) conducted through the Microsoft Elevate – GTU Program, covering Data Analytics, ML, Deep Learning, Power BI, Generative AI, and Azure Cloud Computing.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Highlights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8321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 (ABSS) with Real-Time Anomaly Detection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model trained on DOTA + xView + VisDrone datasets — mAP50 = 0.478 (124% improvement over baseline)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threat classes: person, vehicle, crowd, military_vehicle, aircraft, ship, suspicious_object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 + temporal pattern analysis + ensemble anomaly detection (IF + RF)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Azure Blob Storage + Cosmos DB, 285 automated pytest tests, CI/CD via GitHub Actions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Certification achieved with score 820/1000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YOLOv8 · Isolation Forest · Border Surveillance · Azure · Streamlit · Zone Detection · GTU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Internship – Microsoft Elevate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84124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– GTU Internship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252728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52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78608" y="128930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 Foundation &amp; FICE Education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1700784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007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73736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 |  January 01 – April 15, 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48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218541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(Live Sessions + Self-Paced Labs)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96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263347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Teams, Microsoft Learn, Azure Labs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3044952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44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 Subject 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78608" y="308152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3180701 – 8th Semester Internship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3493008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930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78608" y="352958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Adarsh Gupta, Program Coordinator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3941064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410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78608" y="397764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Chintan Rana, Asst. Prof., ICT Dept.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89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78608" y="442569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Fundamentals (AZ-900) – 820/1000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– 12-Week Curriculum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89888" y="804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EDA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161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Seaborn, statistical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04672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24728" y="804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Business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2161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DAX, interactive dashboards, data modelling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396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1396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2139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511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Unsupervised ML, Scikit-learn, evaluation metrics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39696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1396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1396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24728" y="2139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Computer Vision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5511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ANN, CNN, TensorFlow/Keras, Transfer Learning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474720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474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Prompt Engg.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prompt design, LLM fundamentals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474720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24728" y="3474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886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Storage, Cosmos DB, DevOps, CI/CD, AZ-900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surveillance generates vast visual data that is impossible to monitor through human observation alone.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Monitoring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staff to cover extensive border areas with multiple simultaneous camera feeds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933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Threat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introduces 5–15 minute latency between intrusion event and operator 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60904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609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Alarm Rates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Animals, weather, and environmental noise trigger unnecessary alerts, causing operator fatigue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28416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284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5753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human personnel in remote and harsh terrain is logistically expensive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95928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95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2428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feeds, motion sensors, and patrol logs exist as disconnected data streams with no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 (ABSS) with Real-Time Anomaly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intelligent video surveillance pipeline developed as capstone for Microsoft Elevate Internship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surveillance video footage using OpenCV and custom YOLOv8n object detection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7 threat classes: person, vehicle, crowd, military_vehicle, aircraft, ship, suspicious_object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Dual-stage anomaly scoring: Unsupervised (Isolation Forest) + Supervised (Random Forest) ensemble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zone intrusion detection across 3 configurable threat zones using ray-casting algorithm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temporal pattern analysis via IoU-based object tracking sliding window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prioritised alerts (CRITICAL / HIGH / MEDIUM / LOW) with Azure cloud integration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256032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62686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github.com/jainilgupta02  |  AZ-900 Certification: 820/1000  |  285 Automated Tests Passed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89611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custom YOLOv8n model on DOTA + xView + VisDrone to detect 7 threat classes with mAP50 &gt; 40%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0467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89611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unsupervised anomaly detection using Isolation Forest on a 10-dimensional feature vector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1051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1051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190195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supervised anomaly classification (Random Forest) for CRITICAL / HIGH / MEDIUM / LOW priority levels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81051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81051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81051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190195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spatial zone-based intrusion detection for 3 configurable surveillance zones (ray-casting algorithm)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81635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1635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1635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29077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multi-frame temporal pattern analysis detecting 5 behavioural anomaly types via IoU tracking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81635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81635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1635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9077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Azure Blob Storage (alert frame storage) and Cosmos DB (alert metadata persistence)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82219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82219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391363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Streamlit operational dashboard with geographic visualization and email alerting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82219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82219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6360" y="391363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modules through ≥200 automated pytest test cases with GitHub Actions CI/CD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6-Stage AI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video frames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640×640, frame skip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for motion scoring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9616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82496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82496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inference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threat class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80944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63824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3824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18688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point-in-polygon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zones: Border / Buffer / Obs.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flag per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62272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45152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45152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0016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 object tracker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(N frames)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behavioural anomaly types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1344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CRITICAL→LOW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24928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07808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07808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07808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Storage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62672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alert merge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+ Cosmos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Streamlit dashboard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1168" y="3547872"/>
            <a:ext cx="873252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Integration Layer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77440" y="3566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(alert-frames container)  →  Azure Cosmos DB (SurveillanceDB / Alerts)  →  Streamlit Dashboard (real-time refresh)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0040" y="42793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degradation: system runs without Azure, without Random Forest, and without zone/temporal analyzers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2865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(Ultralytics)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Custom-trained, 7 classes, 30 epochs, DOTA+xView+VisDrone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 + 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1.4+, 10-dim feature vector, 200 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4.x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Farneback optical flow, VideoWriter, frame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+ Plotly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Multi-page layout, st_autorefresh, Scatter Mapbox, donut 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azure-storage-blob SDK 12.19, alert-frames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Cosmos DB (NoSQL)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azure-cosmos SDK, SurveillanceDB, Alerts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SendGrid / Gmail SMTP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email templates, SendGrid API 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pipelines, Ubuntu-latest, Python 3.10.20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 tests, 6 modules, mock-based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DataFrames, array operations, statistical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imagery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280K annotated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object categories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infrastructure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annotated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0.3m resolution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training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VisDrone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surveillance imagery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Crowd, person, vehicle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capture scenarios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+ rural environments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Anomaly Pipeline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92608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27048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746504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46504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80944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(10-dim)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54296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88736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08192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42632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62088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62088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16052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class imbalance was addressed by capping dominant classes and upsampling rare ones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trained for 30 epochs — mAP50 improved from 0.213 (baseline) to 0.478 (balanced)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uses 10 features: detection count, confidence scores, optical flow, crowd density, zone flags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– 7 threat classes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 scoring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 + xView + VisDrone training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configurable threat zones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point-in-polygon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/ Buffer / Observation zones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 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 multi-frame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behavioural anomaly types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across N frames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Anomaly Detection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10-dim feature vector scoring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System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918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via SendGrid / Gmail SMTP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 persistence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operational layout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threat visualization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Auto-refresh, donut charts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Code Snippets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0060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Anomaly Detection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33272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YOLO('border_v2_balanced.pt')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model.predict(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source='frame.jpg', conf=0.25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results: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box in r.boxes: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cls = model.names[int(box.cls[0])]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33272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IsolationForest, RandomForestClassifier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= IsolationForest(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contamination=0.1, random_state=42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iso_pred = iso.fit_predict(features)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RandomForestClassifier(n_estimators=200)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rf_pred = rf.predict(X_test)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Intrusion Detection (Ray-Casting)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+ Cosmos 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4114800" cy="192024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Ray-casting point-in-polygon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point_in_zone(x, y, polygon):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inside =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= len(polygon)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 = n - 1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xi, yi = polygon[i]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xj, yj = polygon[j]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((yi&gt;y)!=(yj&gt;y)) and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(x&lt;(xj-xi)*(y-yi)/(yj-yi)+xi):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inside = not inside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inside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2798064"/>
            <a:ext cx="4114800" cy="192024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azure.storage.blob import BlobServiceClient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azure.cosmos import CosmosClient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 alert frame to Blob Storage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blob_svc = BlobServiceClient\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.from_connection_string(conn_str)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blob_svc.get_container_client(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"alert-frames"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client.upload_blob(frame_bytes)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 alert to Cosmos 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container.upsert_item(alert_doc)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8288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(Final Model)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828800" cy="10058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vs Baseline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777240"/>
            <a:ext cx="1828800" cy="100584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(from 0.043)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777240"/>
            <a:ext cx="1828800" cy="10058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Class mAP50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1920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mAP50 Comparison (Baseline vs Balanced Training)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20040" y="2267712"/>
          <a:ext cx="8503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– Streamlit Dashboard &amp; System Output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Command Center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feed, detection counters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breakdown, system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Enhanced Analysis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735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threat map, anomaly heatmap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intrusion timeline charts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1722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53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frame upload confirmation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metadata persistence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0416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placeholder boxes with actual dashboard screenshots from your project demo for the final viva submission.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3616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layout: Command Center  |  Enhanced Analysis  |  Configuration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via st_autorefresh, Scatter Mapbox for geographic visualization, Plotly donut charts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A2C907E-EAD6-D912-C429-E2953805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2788920" cy="214884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9B3D5C7-F2B6-99F7-D981-4C332D5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749808"/>
            <a:ext cx="2788920" cy="21488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6159A13-3395-3171-4B3C-D22C704D8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749807"/>
            <a:ext cx="2788920" cy="21488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18288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Automated Tests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749808"/>
            <a:ext cx="1828800" cy="9144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(CI/CD)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749808"/>
            <a:ext cx="182880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Tested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749808"/>
            <a:ext cx="1828800" cy="9144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18288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Summary by Module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57984"/>
          <a:ext cx="8503920" cy="1920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test_preprocessing.py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extraction, resize,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test_detector.py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confidence, NMS, class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test_anomaly_detector.py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scoring, RF classifier, priority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test_zone_analyzer.py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Ray-casting, zone config, edge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test_temporal_analyzer.py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tracking, pattern detection,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test_alert_manager.py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merge, Azure upload, email dispatch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20040" y="4224528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use mock-based module isolation (no live Azure or camera required)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YAML pipeline runs on every git push — Ubuntu-latest, Python 3.10.20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deployed a production-grade AI surveillance system integrating Computer Vision, ML, and Cloud Computing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model achieved mAP50 = 0.478 — a 124% improvement — validating the balanced training strategy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improved nearly 10× (0.043 → 0.457); Ship class detection rose from 0.000 to 0.870 mAP50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 and 5-type temporal pattern analysis deliver advanced spatial-temporal threat intelligence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automated pytest tests with GitHub Actions CI/CD ensure production-quality code reliability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+ Cosmos DB provide scalable cloud persistence; Streamlit dashboard enables real-time monitoring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Microsoft Azure Fundamentals certification achieved with score 820/1000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Practically applies all 12 weeks of Microsoft Elevate curriculum in a real national-security scenario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2628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5445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Automates border threat detection, reduces manual monitoring burden, improves response time, and scales to multi-camera infrastructure via Azure Cloud.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7957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TensorRT / ONNX Runtime for GPU-accelerated YOLOv8 inference to achieve real-time FPS at edge devices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77724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Streaming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17957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architecture to handle concurrent RTSP/HLS feeds from multiple cameras using async 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0312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5054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YOLOv8m or YOLOv8l on expanded dataset (DOTA v2, VisDrone-DET) for higher mAP50 and smaller objects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10312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Facial/Plate Recognition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5054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optional modules for face recognition and license plate detection in high-priority intrusion zones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2900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29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83133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models on NVIDIA Jetson or Raspberry Pi + Coral TPU for on-site low-latency surveillance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42900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29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Scaling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83133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pipeline with Docker Compose and orchestrate with Azure Kubernetes Service for enterprise scaling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9149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DOTA: captain-whu.github.io/DOTA/ — 280K annotated aerial objects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xView: xviewdataset.org/ — 1M+ satellite-annotated objects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VisDrone: github.com/VisDrone — Drone aerial surveillance benchmark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Ultralytics: docs.ultralytics.com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Azure: azure.microsoft.com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8072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streamlit.io  |  Scikit-learn: scikit-learn.org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19125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65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Anomaly Detection in Surveillance Videos – Sultani et al. (CVPR 2018)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7398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YOLOv8: Advanced Object Detection Architecture – Jocher et al. (Ultralytics, 2023)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40142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Border Security Through Computer Vision – IEEE Transactions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428853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– Liu, Ting &amp; Zhou (ICDM 2008)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52909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27097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– GTU Internship Program, Edunet Foundation &amp; FICE Education (2026)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52212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Platform: learn.microsoft.com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54955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Microsoft Azure Fundamentals – Certification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176272"/>
            <a:ext cx="5486400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Enrollment No: 220670132018
</a:t>
            </a: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Jainilgupta93@outlook.com
GitHub: github.com/jainilgupta02
LinkedIn: linkedin.com/in/jainilgupta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Institute of Technology and Engineering Research  |  Microsoft Elevate Internship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2735</Words>
  <Application>Microsoft Office PowerPoint</Application>
  <PresentationFormat>On-screen Show (16:9)</PresentationFormat>
  <Paragraphs>492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Office 2013 - 2022 Theme</vt:lpstr>
      <vt:lpstr>AI-Powered Border Surveillance System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Border Surveillance System</dc:title>
  <dc:subject>PptxGenJS Presentation</dc:subject>
  <dc:creator>Jainil Gupta</dc:creator>
  <cp:lastModifiedBy>Jainil Gupta</cp:lastModifiedBy>
  <cp:revision>2</cp:revision>
  <dcterms:created xsi:type="dcterms:W3CDTF">2026-04-15T19:12:59Z</dcterms:created>
  <dcterms:modified xsi:type="dcterms:W3CDTF">2026-04-15T19:44:56Z</dcterms:modified>
</cp:coreProperties>
</file>