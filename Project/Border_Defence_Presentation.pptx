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6"/>
  </p:notesMasterIdLst>
  <p:sldIdLst>
    <p:sldId id="280" r:id="rId2"/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7" r:id="rId23"/>
    <p:sldId id="278" r:id="rId24"/>
    <p:sldId id="279" r:id="rId2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04" d="100"/>
          <a:sy n="104" d="100"/>
        </p:scale>
        <p:origin x="85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797958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3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7.png"/><Relationship Id="rId4" Type="http://schemas.openxmlformats.org/officeDocument/2006/relationships/image" Target="../media/image1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5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13.png"/><Relationship Id="rId4" Type="http://schemas.openxmlformats.org/officeDocument/2006/relationships/image" Target="../media/image19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7" Type="http://schemas.openxmlformats.org/officeDocument/2006/relationships/image" Target="../media/image2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5" Type="http://schemas.openxmlformats.org/officeDocument/2006/relationships/image" Target="../media/image21.png"/><Relationship Id="rId4" Type="http://schemas.openxmlformats.org/officeDocument/2006/relationships/image" Target="../media/image4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D50231F6-5961-CD39-D131-EE1D3A5C95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0" y="320040"/>
            <a:ext cx="914400" cy="914400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E2CF76BC-D8E4-D021-9621-BEECB4A3EA1E}"/>
              </a:ext>
            </a:extLst>
          </p:cNvPr>
          <p:cNvSpPr/>
          <p:nvPr/>
        </p:nvSpPr>
        <p:spPr>
          <a:xfrm>
            <a:off x="457200" y="1376433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Border Defence and Surveillance</a:t>
            </a:r>
            <a:endParaRPr lang="en-US" sz="4000" dirty="0"/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DB1AA162-9A1E-B52A-99CE-162972E982EC}"/>
              </a:ext>
            </a:extLst>
          </p:cNvPr>
          <p:cNvSpPr/>
          <p:nvPr/>
        </p:nvSpPr>
        <p:spPr>
          <a:xfrm>
            <a:off x="457200" y="1924761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100" dirty="0">
                <a:solidFill>
                  <a:srgbClr val="00D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System</a:t>
            </a:r>
            <a:endParaRPr lang="en-US" sz="31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A76F06AB-FE93-45B3-65AD-274E4A23C9E5}"/>
              </a:ext>
            </a:extLst>
          </p:cNvPr>
          <p:cNvSpPr/>
          <p:nvPr/>
        </p:nvSpPr>
        <p:spPr>
          <a:xfrm>
            <a:off x="2743200" y="328349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Prepared by:</a:t>
            </a:r>
          </a:p>
          <a:p>
            <a:pPr>
              <a:lnSpc>
                <a:spcPct val="120000"/>
              </a:lnSpc>
              <a:spcBef>
                <a:spcPts val="600"/>
              </a:spcBef>
            </a:pPr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Name – Jainil Gupta</a:t>
            </a:r>
          </a:p>
          <a:p>
            <a:pPr>
              <a:lnSpc>
                <a:spcPct val="120000"/>
              </a:lnSpc>
              <a:spcBef>
                <a:spcPts val="600"/>
              </a:spcBef>
            </a:pPr>
            <a:r>
              <a:rPr lang="en-IN"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Enrollment</a:t>
            </a:r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No - 220670132018</a:t>
            </a:r>
          </a:p>
          <a:p>
            <a:pPr>
              <a:lnSpc>
                <a:spcPct val="120000"/>
              </a:lnSpc>
              <a:spcBef>
                <a:spcPts val="600"/>
              </a:spcBef>
            </a:pPr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Guided By – Chintan Rana</a:t>
            </a:r>
          </a:p>
          <a:p>
            <a:pPr marL="0" indent="0" algn="ctr">
              <a:buNone/>
            </a:pPr>
            <a:endParaRPr lang="en-US" sz="140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EA599060-05AB-61BF-3600-3152B287A4F8}"/>
              </a:ext>
            </a:extLst>
          </p:cNvPr>
          <p:cNvSpPr/>
          <p:nvPr/>
        </p:nvSpPr>
        <p:spPr>
          <a:xfrm>
            <a:off x="1828800" y="4316115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/>
              <a:t>Information &amp; Communication Technology</a:t>
            </a:r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7ABF8560-F62A-D470-18D2-BDED58499F31}"/>
              </a:ext>
            </a:extLst>
          </p:cNvPr>
          <p:cNvSpPr/>
          <p:nvPr/>
        </p:nvSpPr>
        <p:spPr>
          <a:xfrm>
            <a:off x="1371600" y="454914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/>
              <a:t>SAL Institute of Technology and Engineering Research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FFAF97D-E5F1-7F09-C3B4-292DF9AC181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4059" y="194423"/>
            <a:ext cx="1578817" cy="118201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FD59752-B36A-41EF-D8AE-B0ECA1C3521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51124" y="-125730"/>
            <a:ext cx="1714500" cy="1714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42021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0" y="320040"/>
            <a:ext cx="914400" cy="9144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72972" y="1420958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Border Defence and Surveillance</a:t>
            </a:r>
            <a:endParaRPr lang="en-US" sz="4000" dirty="0"/>
          </a:p>
        </p:txBody>
      </p:sp>
      <p:sp>
        <p:nvSpPr>
          <p:cNvPr id="4" name="Text 1"/>
          <p:cNvSpPr/>
          <p:nvPr/>
        </p:nvSpPr>
        <p:spPr>
          <a:xfrm>
            <a:off x="457200" y="2017841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100" dirty="0">
                <a:solidFill>
                  <a:srgbClr val="00D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System</a:t>
            </a:r>
            <a:endParaRPr lang="en-US" sz="3100" dirty="0"/>
          </a:p>
        </p:txBody>
      </p:sp>
      <p:sp>
        <p:nvSpPr>
          <p:cNvPr id="6" name="Text 3"/>
          <p:cNvSpPr/>
          <p:nvPr/>
        </p:nvSpPr>
        <p:spPr>
          <a:xfrm>
            <a:off x="2743200" y="336350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Prepared by:</a:t>
            </a:r>
          </a:p>
          <a:p>
            <a:pPr>
              <a:lnSpc>
                <a:spcPct val="120000"/>
              </a:lnSpc>
              <a:spcBef>
                <a:spcPts val="600"/>
              </a:spcBef>
            </a:pPr>
            <a:r>
              <a:rPr lang="en-IN" sz="2000" b="1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Name – Jainil Gupta</a:t>
            </a:r>
          </a:p>
          <a:p>
            <a:pPr>
              <a:lnSpc>
                <a:spcPct val="120000"/>
              </a:lnSpc>
              <a:spcBef>
                <a:spcPts val="600"/>
              </a:spcBef>
            </a:pPr>
            <a:r>
              <a:rPr lang="en-IN" sz="2000" b="1" dirty="0" err="1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Enrollment</a:t>
            </a:r>
            <a:r>
              <a:rPr lang="en-IN" sz="2000" b="1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No - 220670132018</a:t>
            </a:r>
          </a:p>
          <a:p>
            <a:pPr>
              <a:lnSpc>
                <a:spcPct val="120000"/>
              </a:lnSpc>
              <a:spcBef>
                <a:spcPts val="600"/>
              </a:spcBef>
            </a:pPr>
            <a:r>
              <a:rPr lang="en-IN" sz="2000" b="1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Guided By – Chintan Rana</a:t>
            </a:r>
          </a:p>
          <a:p>
            <a:pPr marL="0" indent="0" algn="ctr">
              <a:buNone/>
            </a:pPr>
            <a:endParaRPr lang="en-US" sz="1400" dirty="0">
              <a:solidFill>
                <a:schemeClr val="bg2"/>
              </a:solidFill>
            </a:endParaRPr>
          </a:p>
        </p:txBody>
      </p:sp>
      <p:sp>
        <p:nvSpPr>
          <p:cNvPr id="7" name="Text 4"/>
          <p:cNvSpPr/>
          <p:nvPr/>
        </p:nvSpPr>
        <p:spPr>
          <a:xfrm>
            <a:off x="1828800" y="4480560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CADCFC"/>
                </a:solidFill>
              </a:rPr>
              <a:t>Information &amp; Communication Technology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371600" y="470916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CADCFC"/>
                </a:solidFill>
              </a:rPr>
              <a:t>SAL Institute of Technology and Engineering Research</a:t>
            </a:r>
            <a:endParaRPr lang="en-US" sz="130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11A20C42-4CE3-9A3D-15D8-22D5427C60C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4059" y="194422"/>
            <a:ext cx="1610360" cy="120562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CFCF9136-C33B-113A-7354-B7F5610D686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51124" y="-125730"/>
            <a:ext cx="1714500" cy="1714500"/>
          </a:xfrm>
          <a:prstGeom prst="rect">
            <a:avLst/>
          </a:prstGeom>
        </p:spPr>
      </p:pic>
    </p:spTree>
  </p:cSld>
  <p:clrMapOvr>
    <a:masterClrMapping/>
  </p:clrMapOvr>
  <p:transition spd="med">
    <p:pull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D3E6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of Contents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234440"/>
            <a:ext cx="228600" cy="228600"/>
          </a:xfrm>
          <a:prstGeom prst="ellipse">
            <a:avLst/>
          </a:prstGeom>
          <a:solidFill>
            <a:srgbClr val="00D9F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234440"/>
            <a:ext cx="228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761"/>
                </a:solidFill>
              </a:rPr>
              <a:t>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05840" y="118872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</a:rPr>
              <a:t>Company Profile (Microsoft Elevate Program)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1600200"/>
            <a:ext cx="228600" cy="228600"/>
          </a:xfrm>
          <a:prstGeom prst="ellipse">
            <a:avLst/>
          </a:prstGeom>
          <a:solidFill>
            <a:srgbClr val="00D9FF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600200"/>
            <a:ext cx="228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761"/>
                </a:solidFill>
              </a:rPr>
              <a:t>2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005840" y="155448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</a:rPr>
              <a:t>Roles and Responsibilities during Internship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1965960"/>
            <a:ext cx="228600" cy="228600"/>
          </a:xfrm>
          <a:prstGeom prst="ellipse">
            <a:avLst/>
          </a:prstGeom>
          <a:solidFill>
            <a:srgbClr val="00D9FF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1965960"/>
            <a:ext cx="228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761"/>
                </a:solidFill>
              </a:rPr>
              <a:t>3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005840" y="192024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</a:rPr>
              <a:t>Proposed Project Title with Applicability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2331720"/>
            <a:ext cx="228600" cy="228600"/>
          </a:xfrm>
          <a:prstGeom prst="ellipse">
            <a:avLst/>
          </a:prstGeom>
          <a:solidFill>
            <a:srgbClr val="00D9F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331720"/>
            <a:ext cx="228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761"/>
                </a:solidFill>
              </a:rPr>
              <a:t>4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005840" y="228600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</a:rPr>
              <a:t>Brief Introduction to the Project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2697480"/>
            <a:ext cx="228600" cy="228600"/>
          </a:xfrm>
          <a:prstGeom prst="ellipse">
            <a:avLst/>
          </a:prstGeom>
          <a:solidFill>
            <a:srgbClr val="00D9FF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2697480"/>
            <a:ext cx="228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761"/>
                </a:solidFill>
              </a:rPr>
              <a:t>5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005840" y="265176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</a:rPr>
              <a:t>Project Goals and Objectives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40080" y="3063240"/>
            <a:ext cx="228600" cy="228600"/>
          </a:xfrm>
          <a:prstGeom prst="ellipse">
            <a:avLst/>
          </a:prstGeom>
          <a:solidFill>
            <a:srgbClr val="00D9FF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3063240"/>
            <a:ext cx="228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761"/>
                </a:solidFill>
              </a:rPr>
              <a:t>6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005840" y="301752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</a:rPr>
              <a:t>Key Functionalities/Features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40080" y="3429000"/>
            <a:ext cx="228600" cy="228600"/>
          </a:xfrm>
          <a:prstGeom prst="ellipse">
            <a:avLst/>
          </a:prstGeom>
          <a:solidFill>
            <a:srgbClr val="00D9FF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3429000"/>
            <a:ext cx="228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761"/>
                </a:solidFill>
              </a:rPr>
              <a:t>7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005840" y="338328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</a:rPr>
              <a:t>Methodology / Tools &amp; Technology Used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640080" y="3794760"/>
            <a:ext cx="228600" cy="228600"/>
          </a:xfrm>
          <a:prstGeom prst="ellipse">
            <a:avLst/>
          </a:prstGeom>
          <a:solidFill>
            <a:srgbClr val="00D9FF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3794760"/>
            <a:ext cx="228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761"/>
                </a:solidFill>
              </a:rPr>
              <a:t>8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005840" y="374904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</a:rPr>
              <a:t>Timeline of Project (12-Week Plan)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640080" y="4160520"/>
            <a:ext cx="228600" cy="228600"/>
          </a:xfrm>
          <a:prstGeom prst="ellipse">
            <a:avLst/>
          </a:prstGeom>
          <a:solidFill>
            <a:srgbClr val="00D9FF"/>
          </a:solidFill>
          <a:ln/>
        </p:spPr>
      </p:sp>
      <p:sp>
        <p:nvSpPr>
          <p:cNvPr id="28" name="Text 26"/>
          <p:cNvSpPr/>
          <p:nvPr/>
        </p:nvSpPr>
        <p:spPr>
          <a:xfrm>
            <a:off x="640080" y="4160520"/>
            <a:ext cx="228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761"/>
                </a:solidFill>
              </a:rPr>
              <a:t>9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005840" y="411480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</a:rPr>
              <a:t>Conclusion and References</a:t>
            </a:r>
            <a:endParaRPr lang="en-US" sz="1400" dirty="0"/>
          </a:p>
        </p:txBody>
      </p:sp>
    </p:spTree>
  </p:cSld>
  <p:clrMapOvr>
    <a:masterClrMapping/>
  </p:clrMapOvr>
  <p:transition spd="slow">
    <p:push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D3E6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20040"/>
            <a:ext cx="365760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36576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Microsoft Elevate Program</a:t>
            </a:r>
            <a:endParaRPr lang="en-US" sz="3600" dirty="0"/>
          </a:p>
        </p:txBody>
      </p:sp>
      <p:sp>
        <p:nvSpPr>
          <p:cNvPr id="4" name="Shape 1"/>
          <p:cNvSpPr/>
          <p:nvPr/>
        </p:nvSpPr>
        <p:spPr>
          <a:xfrm>
            <a:off x="457200" y="1097280"/>
            <a:ext cx="4023360" cy="1051560"/>
          </a:xfrm>
          <a:prstGeom prst="rect">
            <a:avLst/>
          </a:prstGeom>
          <a:solidFill>
            <a:srgbClr val="3D4E76"/>
          </a:solidFill>
          <a:ln/>
        </p:spPr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" y="1234440"/>
            <a:ext cx="320040" cy="32004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005840" y="1234440"/>
            <a:ext cx="33375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</a:rPr>
              <a:t>12-week intensive virtual internship program</a:t>
            </a:r>
            <a:endParaRPr lang="en-US" sz="1300" dirty="0"/>
          </a:p>
        </p:txBody>
      </p:sp>
      <p:sp>
        <p:nvSpPr>
          <p:cNvPr id="7" name="Shape 3"/>
          <p:cNvSpPr/>
          <p:nvPr/>
        </p:nvSpPr>
        <p:spPr>
          <a:xfrm>
            <a:off x="4663440" y="1097280"/>
            <a:ext cx="4023360" cy="1051560"/>
          </a:xfrm>
          <a:prstGeom prst="rect">
            <a:avLst/>
          </a:prstGeom>
          <a:solidFill>
            <a:srgbClr val="3D4E76"/>
          </a:solidFill>
          <a:ln/>
        </p:spPr>
      </p:sp>
      <p:pic>
        <p:nvPicPr>
          <p:cNvPr id="8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1234440"/>
            <a:ext cx="320040" cy="320040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5212080" y="1234440"/>
            <a:ext cx="33375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</a:rPr>
              <a:t>Powered by Edunet Foundation &amp; FICE Education</a:t>
            </a:r>
            <a:endParaRPr lang="en-US" sz="1300" dirty="0"/>
          </a:p>
        </p:txBody>
      </p:sp>
      <p:sp>
        <p:nvSpPr>
          <p:cNvPr id="10" name="Shape 5"/>
          <p:cNvSpPr/>
          <p:nvPr/>
        </p:nvSpPr>
        <p:spPr>
          <a:xfrm>
            <a:off x="457200" y="2286000"/>
            <a:ext cx="4023360" cy="1051560"/>
          </a:xfrm>
          <a:prstGeom prst="rect">
            <a:avLst/>
          </a:prstGeom>
          <a:solidFill>
            <a:srgbClr val="3D4E76"/>
          </a:solidFill>
          <a:ln/>
        </p:spPr>
      </p:sp>
      <p:pic>
        <p:nvPicPr>
          <p:cNvPr id="11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4360" y="2423160"/>
            <a:ext cx="320040" cy="320040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1005840" y="2423160"/>
            <a:ext cx="33375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</a:rPr>
              <a:t>Partnership with GTU for 8th Semester Internship</a:t>
            </a:r>
            <a:endParaRPr lang="en-US" sz="1300" dirty="0"/>
          </a:p>
        </p:txBody>
      </p:sp>
      <p:sp>
        <p:nvSpPr>
          <p:cNvPr id="13" name="Shape 7"/>
          <p:cNvSpPr/>
          <p:nvPr/>
        </p:nvSpPr>
        <p:spPr>
          <a:xfrm>
            <a:off x="4663440" y="2286000"/>
            <a:ext cx="4023360" cy="1051560"/>
          </a:xfrm>
          <a:prstGeom prst="rect">
            <a:avLst/>
          </a:prstGeom>
          <a:solidFill>
            <a:srgbClr val="3D4E76"/>
          </a:solidFill>
          <a:ln/>
        </p:spPr>
      </p:sp>
      <p:pic>
        <p:nvPicPr>
          <p:cNvPr id="14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00600" y="2423160"/>
            <a:ext cx="320040" cy="320040"/>
          </a:xfrm>
          <a:prstGeom prst="rect">
            <a:avLst/>
          </a:prstGeom>
        </p:spPr>
      </p:pic>
      <p:sp>
        <p:nvSpPr>
          <p:cNvPr id="15" name="Text 8"/>
          <p:cNvSpPr/>
          <p:nvPr/>
        </p:nvSpPr>
        <p:spPr>
          <a:xfrm>
            <a:off x="5212080" y="2423160"/>
            <a:ext cx="33375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</a:rPr>
              <a:t>Focus: Data Analytics, ML, DL, Power BI, Azure Cloud</a:t>
            </a:r>
            <a:endParaRPr lang="en-US" sz="1300" dirty="0"/>
          </a:p>
        </p:txBody>
      </p:sp>
      <p:sp>
        <p:nvSpPr>
          <p:cNvPr id="16" name="Shape 9"/>
          <p:cNvSpPr/>
          <p:nvPr/>
        </p:nvSpPr>
        <p:spPr>
          <a:xfrm>
            <a:off x="457200" y="3474720"/>
            <a:ext cx="4023360" cy="1051560"/>
          </a:xfrm>
          <a:prstGeom prst="rect">
            <a:avLst/>
          </a:prstGeom>
          <a:solidFill>
            <a:srgbClr val="3D4E76"/>
          </a:solidFill>
          <a:ln/>
        </p:spPr>
      </p:sp>
      <p:pic>
        <p:nvPicPr>
          <p:cNvPr id="17" name="Image 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4360" y="3611880"/>
            <a:ext cx="320040" cy="320040"/>
          </a:xfrm>
          <a:prstGeom prst="rect">
            <a:avLst/>
          </a:prstGeom>
        </p:spPr>
      </p:pic>
      <p:sp>
        <p:nvSpPr>
          <p:cNvPr id="18" name="Text 10"/>
          <p:cNvSpPr/>
          <p:nvPr/>
        </p:nvSpPr>
        <p:spPr>
          <a:xfrm>
            <a:off x="1005840" y="3611880"/>
            <a:ext cx="33375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</a:rPr>
              <a:t>Industry mentorship from Microsoft-certified trainers</a:t>
            </a:r>
            <a:endParaRPr lang="en-US" sz="1300" dirty="0"/>
          </a:p>
        </p:txBody>
      </p:sp>
      <p:sp>
        <p:nvSpPr>
          <p:cNvPr id="19" name="Shape 11"/>
          <p:cNvSpPr/>
          <p:nvPr/>
        </p:nvSpPr>
        <p:spPr>
          <a:xfrm>
            <a:off x="4663440" y="3474720"/>
            <a:ext cx="4023360" cy="1051560"/>
          </a:xfrm>
          <a:prstGeom prst="rect">
            <a:avLst/>
          </a:prstGeom>
          <a:solidFill>
            <a:srgbClr val="3D4E76"/>
          </a:solidFill>
          <a:ln/>
        </p:spPr>
      </p:sp>
      <p:pic>
        <p:nvPicPr>
          <p:cNvPr id="20" name="Image 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800600" y="3611880"/>
            <a:ext cx="320040" cy="320040"/>
          </a:xfrm>
          <a:prstGeom prst="rect">
            <a:avLst/>
          </a:prstGeom>
        </p:spPr>
      </p:pic>
      <p:sp>
        <p:nvSpPr>
          <p:cNvPr id="21" name="Text 12"/>
          <p:cNvSpPr/>
          <p:nvPr/>
        </p:nvSpPr>
        <p:spPr>
          <a:xfrm>
            <a:off x="5212080" y="3611880"/>
            <a:ext cx="33375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</a:rPr>
              <a:t>Hands-on labs with real-world datasets</a:t>
            </a:r>
            <a:endParaRPr lang="en-US" sz="1300" dirty="0"/>
          </a:p>
        </p:txBody>
      </p:sp>
      <p:sp>
        <p:nvSpPr>
          <p:cNvPr id="22" name="Text 2"/>
          <p:cNvSpPr/>
          <p:nvPr/>
        </p:nvSpPr>
        <p:spPr>
          <a:xfrm>
            <a:off x="457200" y="4689043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i="1" dirty="0">
                <a:solidFill>
                  <a:srgbClr val="CADCFC"/>
                </a:solidFill>
              </a:rPr>
              <a:t>Microsoft Elevate Internship Project | Jan-Apr 2026</a:t>
            </a:r>
            <a:endParaRPr lang="en-US" sz="1600" dirty="0"/>
          </a:p>
        </p:txBody>
      </p:sp>
    </p:spTree>
  </p:cSld>
  <p:clrMapOvr>
    <a:masterClrMapping/>
  </p:clrMapOvr>
  <p:transition spd="slow">
    <p:randomBar dir="vert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2D3E6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Elevate - Learning Modules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1371600" cy="45720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09728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Week 1-2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920240" y="1097280"/>
            <a:ext cx="6766560" cy="457200"/>
          </a:xfrm>
          <a:prstGeom prst="rect">
            <a:avLst/>
          </a:prstGeom>
          <a:solidFill>
            <a:srgbClr val="3D4E76"/>
          </a:solidFill>
          <a:ln/>
        </p:spPr>
      </p:sp>
      <p:sp>
        <p:nvSpPr>
          <p:cNvPr id="6" name="Text 4"/>
          <p:cNvSpPr/>
          <p:nvPr/>
        </p:nvSpPr>
        <p:spPr>
          <a:xfrm>
            <a:off x="2103120" y="109728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</a:rPr>
              <a:t>Data Analytics &amp; EDA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1371600" cy="4572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64592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Week 3-5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1920240" y="1645920"/>
            <a:ext cx="6766560" cy="457200"/>
          </a:xfrm>
          <a:prstGeom prst="rect">
            <a:avLst/>
          </a:prstGeom>
          <a:solidFill>
            <a:srgbClr val="3D4E76"/>
          </a:solidFill>
          <a:ln/>
        </p:spPr>
      </p:sp>
      <p:sp>
        <p:nvSpPr>
          <p:cNvPr id="10" name="Text 8"/>
          <p:cNvSpPr/>
          <p:nvPr/>
        </p:nvSpPr>
        <p:spPr>
          <a:xfrm>
            <a:off x="2103120" y="164592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</a:rPr>
              <a:t>Power BI &amp; Business Intelligence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2194560"/>
            <a:ext cx="1371600" cy="45720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219456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Week 6-7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1920240" y="2194560"/>
            <a:ext cx="6766560" cy="457200"/>
          </a:xfrm>
          <a:prstGeom prst="rect">
            <a:avLst/>
          </a:prstGeom>
          <a:solidFill>
            <a:srgbClr val="3D4E76"/>
          </a:solidFill>
          <a:ln/>
        </p:spPr>
      </p:sp>
      <p:sp>
        <p:nvSpPr>
          <p:cNvPr id="14" name="Text 12"/>
          <p:cNvSpPr/>
          <p:nvPr/>
        </p:nvSpPr>
        <p:spPr>
          <a:xfrm>
            <a:off x="2103120" y="219456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</a:rPr>
              <a:t>Machine Learning (Supervised &amp; Unsupervised)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743200"/>
            <a:ext cx="1371600" cy="457200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274320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Week 8-9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1920240" y="2743200"/>
            <a:ext cx="6766560" cy="457200"/>
          </a:xfrm>
          <a:prstGeom prst="rect">
            <a:avLst/>
          </a:prstGeom>
          <a:solidFill>
            <a:srgbClr val="3D4E76"/>
          </a:solidFill>
          <a:ln/>
        </p:spPr>
      </p:sp>
      <p:sp>
        <p:nvSpPr>
          <p:cNvPr id="18" name="Text 16"/>
          <p:cNvSpPr/>
          <p:nvPr/>
        </p:nvSpPr>
        <p:spPr>
          <a:xfrm>
            <a:off x="2103120" y="274320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</a:rPr>
              <a:t>Deep Learning &amp; Computer Vision (CNN)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3291840"/>
            <a:ext cx="1371600" cy="457200"/>
          </a:xfrm>
          <a:prstGeom prst="rect">
            <a:avLst/>
          </a:prstGeom>
          <a:solidFill>
            <a:srgbClr val="D946EF"/>
          </a:solidFill>
          <a:ln/>
        </p:spPr>
      </p:sp>
      <p:sp>
        <p:nvSpPr>
          <p:cNvPr id="20" name="Text 18"/>
          <p:cNvSpPr/>
          <p:nvPr/>
        </p:nvSpPr>
        <p:spPr>
          <a:xfrm>
            <a:off x="457200" y="329184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Week 10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1920240" y="3291840"/>
            <a:ext cx="6766560" cy="457200"/>
          </a:xfrm>
          <a:prstGeom prst="rect">
            <a:avLst/>
          </a:prstGeom>
          <a:solidFill>
            <a:srgbClr val="3D4E76"/>
          </a:solidFill>
          <a:ln/>
        </p:spPr>
      </p:sp>
      <p:sp>
        <p:nvSpPr>
          <p:cNvPr id="22" name="Text 20"/>
          <p:cNvSpPr/>
          <p:nvPr/>
        </p:nvSpPr>
        <p:spPr>
          <a:xfrm>
            <a:off x="2103120" y="329184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</a:rPr>
              <a:t>Generative AI &amp; Prompt Engineering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457200" y="3840480"/>
            <a:ext cx="1371600" cy="457200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384048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Week 11-12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1920240" y="3840480"/>
            <a:ext cx="6766560" cy="457200"/>
          </a:xfrm>
          <a:prstGeom prst="rect">
            <a:avLst/>
          </a:prstGeom>
          <a:solidFill>
            <a:srgbClr val="3D4E76"/>
          </a:solidFill>
          <a:ln/>
        </p:spPr>
      </p:sp>
      <p:sp>
        <p:nvSpPr>
          <p:cNvPr id="26" name="Text 24"/>
          <p:cNvSpPr/>
          <p:nvPr/>
        </p:nvSpPr>
        <p:spPr>
          <a:xfrm>
            <a:off x="2103120" y="384048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</a:rPr>
              <a:t>Microsoft Azure Cloud &amp; Deployment</a:t>
            </a:r>
            <a:endParaRPr lang="en-US" sz="14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D3E6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411480"/>
            <a:ext cx="365760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36576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Role During Internship</a:t>
            </a:r>
            <a:endParaRPr lang="en-US" sz="3600" dirty="0"/>
          </a:p>
        </p:txBody>
      </p:sp>
      <p:sp>
        <p:nvSpPr>
          <p:cNvPr id="4" name="Shape 1"/>
          <p:cNvSpPr/>
          <p:nvPr/>
        </p:nvSpPr>
        <p:spPr>
          <a:xfrm>
            <a:off x="457200" y="1097280"/>
            <a:ext cx="73152" cy="365760"/>
          </a:xfrm>
          <a:prstGeom prst="rect">
            <a:avLst/>
          </a:prstGeom>
          <a:solidFill>
            <a:srgbClr val="00D9FF"/>
          </a:solidFill>
          <a:ln/>
        </p:spPr>
      </p:sp>
      <p:sp>
        <p:nvSpPr>
          <p:cNvPr id="5" name="Text 2"/>
          <p:cNvSpPr/>
          <p:nvPr/>
        </p:nvSpPr>
        <p:spPr>
          <a:xfrm>
            <a:off x="685800" y="1097280"/>
            <a:ext cx="7955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</a:rPr>
              <a:t>Attend weekly live sessions and complete hands-on labs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457200" y="1554480"/>
            <a:ext cx="73152" cy="365760"/>
          </a:xfrm>
          <a:prstGeom prst="rect">
            <a:avLst/>
          </a:prstGeom>
          <a:solidFill>
            <a:srgbClr val="00D9FF"/>
          </a:solidFill>
          <a:ln/>
        </p:spPr>
      </p:sp>
      <p:sp>
        <p:nvSpPr>
          <p:cNvPr id="7" name="Text 4"/>
          <p:cNvSpPr/>
          <p:nvPr/>
        </p:nvSpPr>
        <p:spPr>
          <a:xfrm>
            <a:off x="685800" y="1554480"/>
            <a:ext cx="7955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</a:rPr>
              <a:t>Work on real-world datasets for Data Analytics &amp; ML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457200" y="2011680"/>
            <a:ext cx="73152" cy="365760"/>
          </a:xfrm>
          <a:prstGeom prst="rect">
            <a:avLst/>
          </a:prstGeom>
          <a:solidFill>
            <a:srgbClr val="00D9FF"/>
          </a:solidFill>
          <a:ln/>
        </p:spPr>
      </p:sp>
      <p:sp>
        <p:nvSpPr>
          <p:cNvPr id="9" name="Text 6"/>
          <p:cNvSpPr/>
          <p:nvPr/>
        </p:nvSpPr>
        <p:spPr>
          <a:xfrm>
            <a:off x="685800" y="2011680"/>
            <a:ext cx="7955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</a:rPr>
              <a:t>Build end-to-end ML pipelines (data → model → deployment)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457200" y="2468880"/>
            <a:ext cx="73152" cy="365760"/>
          </a:xfrm>
          <a:prstGeom prst="rect">
            <a:avLst/>
          </a:prstGeom>
          <a:solidFill>
            <a:srgbClr val="00D9FF"/>
          </a:solidFill>
          <a:ln/>
        </p:spPr>
      </p:sp>
      <p:sp>
        <p:nvSpPr>
          <p:cNvPr id="11" name="Text 8"/>
          <p:cNvSpPr/>
          <p:nvPr/>
        </p:nvSpPr>
        <p:spPr>
          <a:xfrm>
            <a:off x="685800" y="2468880"/>
            <a:ext cx="7955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</a:rPr>
              <a:t>Develop Power BI dashboards for data visualization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457200" y="2926080"/>
            <a:ext cx="73152" cy="365760"/>
          </a:xfrm>
          <a:prstGeom prst="rect">
            <a:avLst/>
          </a:prstGeom>
          <a:solidFill>
            <a:srgbClr val="00D9FF"/>
          </a:solidFill>
          <a:ln/>
        </p:spPr>
      </p:sp>
      <p:sp>
        <p:nvSpPr>
          <p:cNvPr id="13" name="Text 10"/>
          <p:cNvSpPr/>
          <p:nvPr/>
        </p:nvSpPr>
        <p:spPr>
          <a:xfrm>
            <a:off x="685800" y="2926080"/>
            <a:ext cx="7955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</a:rPr>
              <a:t>Deploy AI models on Microsoft Azure Cloud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457200" y="3383280"/>
            <a:ext cx="73152" cy="365760"/>
          </a:xfrm>
          <a:prstGeom prst="rect">
            <a:avLst/>
          </a:prstGeom>
          <a:solidFill>
            <a:srgbClr val="00D9FF"/>
          </a:solidFill>
          <a:ln/>
        </p:spPr>
      </p:sp>
      <p:sp>
        <p:nvSpPr>
          <p:cNvPr id="15" name="Text 12"/>
          <p:cNvSpPr/>
          <p:nvPr/>
        </p:nvSpPr>
        <p:spPr>
          <a:xfrm>
            <a:off x="685800" y="3383280"/>
            <a:ext cx="7955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</a:rPr>
              <a:t>Complete GTU internship project under Border Defence domain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457200" y="3840480"/>
            <a:ext cx="73152" cy="365760"/>
          </a:xfrm>
          <a:prstGeom prst="rect">
            <a:avLst/>
          </a:prstGeom>
          <a:solidFill>
            <a:srgbClr val="00D9FF"/>
          </a:solidFill>
          <a:ln/>
        </p:spPr>
      </p:sp>
      <p:sp>
        <p:nvSpPr>
          <p:cNvPr id="17" name="Text 14"/>
          <p:cNvSpPr/>
          <p:nvPr/>
        </p:nvSpPr>
        <p:spPr>
          <a:xfrm>
            <a:off x="685800" y="3840480"/>
            <a:ext cx="7955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</a:rPr>
              <a:t>Maintain GitHub repository with clean code practices</a:t>
            </a:r>
            <a:endParaRPr lang="en-US" sz="14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0D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Project Title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8229600" cy="914400"/>
          </a:xfrm>
          <a:prstGeom prst="rect">
            <a:avLst/>
          </a:prstGeom>
          <a:solidFill>
            <a:srgbClr val="3D4E76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0058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</a:rPr>
              <a:t>AI-Powered Border Surveillance System with Real-Time Anomaly Detection and Cloud-Based Alert Management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0116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0D9FF"/>
                </a:solidFill>
              </a:rPr>
              <a:t>Applicability</a:t>
            </a:r>
            <a:endParaRPr lang="en-US" sz="24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423160"/>
            <a:ext cx="274320" cy="2743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246888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</a:rPr>
              <a:t>National Border Security Enhancement</a:t>
            </a:r>
            <a:endParaRPr lang="en-US" sz="1400" dirty="0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834640"/>
            <a:ext cx="274320" cy="27432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14400" y="288036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</a:rPr>
              <a:t>Automated threat detection replacing manual monitoring</a:t>
            </a:r>
            <a:endParaRPr lang="en-US" sz="1400" dirty="0"/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246120"/>
            <a:ext cx="274320" cy="27432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914400" y="329184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</a:rPr>
              <a:t>Real-time alert system for security personnel</a:t>
            </a:r>
            <a:endParaRPr lang="en-US" sz="1400" dirty="0"/>
          </a:p>
        </p:txBody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657600"/>
            <a:ext cx="274320" cy="274320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914400" y="370332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</a:rPr>
              <a:t>Cost-effective alternative to traditional surveillance</a:t>
            </a:r>
            <a:endParaRPr lang="en-US" sz="1400" dirty="0"/>
          </a:p>
        </p:txBody>
      </p:sp>
      <p:pic>
        <p:nvPicPr>
          <p:cNvPr id="14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069080"/>
            <a:ext cx="274320" cy="274320"/>
          </a:xfrm>
          <a:prstGeom prst="rect">
            <a:avLst/>
          </a:prstGeom>
        </p:spPr>
      </p:pic>
      <p:sp>
        <p:nvSpPr>
          <p:cNvPr id="15" name="Text 8"/>
          <p:cNvSpPr/>
          <p:nvPr/>
        </p:nvSpPr>
        <p:spPr>
          <a:xfrm>
            <a:off x="914400" y="411480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</a:rPr>
              <a:t>Scalable solution for large-scale border monitoring</a:t>
            </a:r>
            <a:endParaRPr lang="en-US" sz="14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D3E6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854" y="365760"/>
            <a:ext cx="365760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32004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Border Defence &amp; Surveillance Challenges</a:t>
            </a:r>
            <a:endParaRPr lang="en-US" sz="3400" dirty="0"/>
          </a:p>
        </p:txBody>
      </p:sp>
      <p:sp>
        <p:nvSpPr>
          <p:cNvPr id="4" name="Text 1"/>
          <p:cNvSpPr/>
          <p:nvPr/>
        </p:nvSpPr>
        <p:spPr>
          <a:xfrm>
            <a:off x="457200" y="10058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D9FF"/>
                </a:solidFill>
              </a:rPr>
              <a:t>Key Issues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371600"/>
            <a:ext cx="54864" cy="320040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6" name="Text 3"/>
          <p:cNvSpPr/>
          <p:nvPr/>
        </p:nvSpPr>
        <p:spPr>
          <a:xfrm>
            <a:off x="640080" y="1371600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</a:rPr>
              <a:t>Large-scale monitoring of vast border areas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457200" y="1783080"/>
            <a:ext cx="54864" cy="320040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1783080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</a:rPr>
              <a:t>Delayed threat detection due to manual analysis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57200" y="2194560"/>
            <a:ext cx="54864" cy="320040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10" name="Text 7"/>
          <p:cNvSpPr/>
          <p:nvPr/>
        </p:nvSpPr>
        <p:spPr>
          <a:xfrm>
            <a:off x="640080" y="2194560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</a:rPr>
              <a:t>High false alarm rates (animals, weather, noise)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457200" y="2606040"/>
            <a:ext cx="54864" cy="320040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12" name="Text 9"/>
          <p:cNvSpPr/>
          <p:nvPr/>
        </p:nvSpPr>
        <p:spPr>
          <a:xfrm>
            <a:off x="640080" y="2606040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</a:rPr>
              <a:t>Limited manpower and resources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457200" y="3017520"/>
            <a:ext cx="54864" cy="320040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14" name="Text 11"/>
          <p:cNvSpPr/>
          <p:nvPr/>
        </p:nvSpPr>
        <p:spPr>
          <a:xfrm>
            <a:off x="640080" y="3017520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</a:rPr>
              <a:t>Poor data integration from sensors and cameras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5029200" y="1005840"/>
            <a:ext cx="3657600" cy="2743200"/>
          </a:xfrm>
          <a:prstGeom prst="rect">
            <a:avLst/>
          </a:prstGeom>
          <a:solidFill>
            <a:srgbClr val="3D4E76"/>
          </a:solidFill>
          <a:ln/>
        </p:spPr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0" y="1280160"/>
            <a:ext cx="914400" cy="91440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5212080" y="237744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0D9FF"/>
                </a:solidFill>
              </a:rPr>
              <a:t>Solution</a:t>
            </a:r>
            <a:endParaRPr lang="en-US" sz="2000" dirty="0"/>
          </a:p>
        </p:txBody>
      </p:sp>
      <p:sp>
        <p:nvSpPr>
          <p:cNvPr id="18" name="Text 14"/>
          <p:cNvSpPr/>
          <p:nvPr/>
        </p:nvSpPr>
        <p:spPr>
          <a:xfrm>
            <a:off x="5303520" y="274320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AI-powered automated surveillance system</a:t>
            </a:r>
            <a:endParaRPr lang="en-US" sz="16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2D3E6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This Project About?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00D9FF"/>
                </a:solidFill>
              </a:rPr>
              <a:t>An intelligent surveillance system that: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4023360" cy="914400"/>
          </a:xfrm>
          <a:prstGeom prst="rect">
            <a:avLst/>
          </a:prstGeom>
          <a:solidFill>
            <a:srgbClr val="3D4E76"/>
          </a:solidFill>
          <a:ln/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600200"/>
            <a:ext cx="320040" cy="3200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05840" y="1600200"/>
            <a:ext cx="3337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Monitors border areas using video surveillance data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4663440" y="1463040"/>
            <a:ext cx="4023360" cy="914400"/>
          </a:xfrm>
          <a:prstGeom prst="rect">
            <a:avLst/>
          </a:prstGeom>
          <a:solidFill>
            <a:srgbClr val="3D4E76"/>
          </a:solidFill>
          <a:ln/>
        </p:spPr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0600" y="1600200"/>
            <a:ext cx="320040" cy="3200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212080" y="1600200"/>
            <a:ext cx="3337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Automatically detects unusual activities and objects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457200" y="2514600"/>
            <a:ext cx="4023360" cy="914400"/>
          </a:xfrm>
          <a:prstGeom prst="rect">
            <a:avLst/>
          </a:prstGeom>
          <a:solidFill>
            <a:srgbClr val="3D4E76"/>
          </a:solidFill>
          <a:ln/>
        </p:spPr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4360" y="2651760"/>
            <a:ext cx="320040" cy="32004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005840" y="2651760"/>
            <a:ext cx="3337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Uses Machine Learning to identify threats in real-time</a:t>
            </a:r>
            <a:endParaRPr lang="en-US" sz="1200" dirty="0"/>
          </a:p>
        </p:txBody>
      </p:sp>
      <p:sp>
        <p:nvSpPr>
          <p:cNvPr id="13" name="Shape 8"/>
          <p:cNvSpPr/>
          <p:nvPr/>
        </p:nvSpPr>
        <p:spPr>
          <a:xfrm>
            <a:off x="4663440" y="2514600"/>
            <a:ext cx="4023360" cy="914400"/>
          </a:xfrm>
          <a:prstGeom prst="rect">
            <a:avLst/>
          </a:prstGeom>
          <a:solidFill>
            <a:srgbClr val="3D4E76"/>
          </a:solidFill>
          <a:ln/>
        </p:spPr>
      </p:sp>
      <p:pic>
        <p:nvPicPr>
          <p:cNvPr id="14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00600" y="2651760"/>
            <a:ext cx="320040" cy="32004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5212080" y="2651760"/>
            <a:ext cx="3337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Sends prioritized alerts to security personnel</a:t>
            </a:r>
            <a:endParaRPr lang="en-US" sz="1200" dirty="0"/>
          </a:p>
        </p:txBody>
      </p:sp>
      <p:sp>
        <p:nvSpPr>
          <p:cNvPr id="16" name="Shape 10"/>
          <p:cNvSpPr/>
          <p:nvPr/>
        </p:nvSpPr>
        <p:spPr>
          <a:xfrm>
            <a:off x="457200" y="3566160"/>
            <a:ext cx="4023360" cy="914400"/>
          </a:xfrm>
          <a:prstGeom prst="rect">
            <a:avLst/>
          </a:prstGeom>
          <a:solidFill>
            <a:srgbClr val="3D4E76"/>
          </a:solidFill>
          <a:ln/>
        </p:spPr>
      </p:sp>
      <p:pic>
        <p:nvPicPr>
          <p:cNvPr id="17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4360" y="3703320"/>
            <a:ext cx="320040" cy="320040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1005840" y="3703320"/>
            <a:ext cx="3337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Deploys on Azure Cloud for scalability</a:t>
            </a:r>
            <a:endParaRPr lang="en-US" sz="1200" dirty="0"/>
          </a:p>
        </p:txBody>
      </p:sp>
      <p:sp>
        <p:nvSpPr>
          <p:cNvPr id="19" name="Shape 12"/>
          <p:cNvSpPr/>
          <p:nvPr/>
        </p:nvSpPr>
        <p:spPr>
          <a:xfrm>
            <a:off x="4663440" y="3566160"/>
            <a:ext cx="4023360" cy="914400"/>
          </a:xfrm>
          <a:prstGeom prst="rect">
            <a:avLst/>
          </a:prstGeom>
          <a:solidFill>
            <a:srgbClr val="3D4E76"/>
          </a:solidFill>
          <a:ln/>
        </p:spPr>
      </p:sp>
      <p:pic>
        <p:nvPicPr>
          <p:cNvPr id="20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800600" y="3703320"/>
            <a:ext cx="320040" cy="320040"/>
          </a:xfrm>
          <a:prstGeom prst="rect">
            <a:avLst/>
          </a:prstGeom>
        </p:spPr>
      </p:pic>
      <p:sp>
        <p:nvSpPr>
          <p:cNvPr id="21" name="Text 13"/>
          <p:cNvSpPr/>
          <p:nvPr/>
        </p:nvSpPr>
        <p:spPr>
          <a:xfrm>
            <a:off x="5212080" y="3703320"/>
            <a:ext cx="3337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Visualizes data through interactive Power BI dashboard</a:t>
            </a:r>
            <a:endParaRPr lang="en-US" sz="1200" dirty="0"/>
          </a:p>
        </p:txBody>
      </p:sp>
      <p:sp>
        <p:nvSpPr>
          <p:cNvPr id="22" name="Shape 14"/>
          <p:cNvSpPr/>
          <p:nvPr/>
        </p:nvSpPr>
        <p:spPr>
          <a:xfrm>
            <a:off x="457200" y="4389120"/>
            <a:ext cx="8229600" cy="4572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23" name="Text 15"/>
          <p:cNvSpPr/>
          <p:nvPr/>
        </p:nvSpPr>
        <p:spPr>
          <a:xfrm>
            <a:off x="457200" y="43891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D9FF"/>
                </a:solidFill>
              </a:rPr>
              <a:t>Technology: Computer Vision + Machine Learning + Cloud Computing</a:t>
            </a:r>
            <a:endParaRPr lang="en-US" sz="14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ferris dir="l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D3E6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411480"/>
            <a:ext cx="365760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36576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Goals</a:t>
            </a:r>
            <a:endParaRPr lang="en-US" sz="3600" dirty="0"/>
          </a:p>
        </p:txBody>
      </p:sp>
      <p:sp>
        <p:nvSpPr>
          <p:cNvPr id="4" name="Shape 1"/>
          <p:cNvSpPr/>
          <p:nvPr/>
        </p:nvSpPr>
        <p:spPr>
          <a:xfrm>
            <a:off x="548640" y="1143000"/>
            <a:ext cx="274320" cy="274320"/>
          </a:xfrm>
          <a:prstGeom prst="ellipse">
            <a:avLst/>
          </a:prstGeom>
          <a:solidFill>
            <a:srgbClr val="00D9FF"/>
          </a:solidFill>
          <a:ln/>
        </p:spPr>
      </p:sp>
      <p:sp>
        <p:nvSpPr>
          <p:cNvPr id="5" name="Text 2"/>
          <p:cNvSpPr/>
          <p:nvPr/>
        </p:nvSpPr>
        <p:spPr>
          <a:xfrm>
            <a:off x="548640" y="114300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761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960120" y="109728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</a:rPr>
              <a:t>Build end-to-end AI surveillance system from scratch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48640" y="1600200"/>
            <a:ext cx="274320" cy="274320"/>
          </a:xfrm>
          <a:prstGeom prst="ellipse">
            <a:avLst/>
          </a:prstGeom>
          <a:solidFill>
            <a:srgbClr val="00D9FF"/>
          </a:solidFill>
          <a:ln/>
        </p:spPr>
      </p:sp>
      <p:sp>
        <p:nvSpPr>
          <p:cNvPr id="8" name="Text 5"/>
          <p:cNvSpPr/>
          <p:nvPr/>
        </p:nvSpPr>
        <p:spPr>
          <a:xfrm>
            <a:off x="548640" y="160020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761"/>
                </a:solidFill>
              </a:rPr>
              <a:t>2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960120" y="155448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</a:rPr>
              <a:t>Implement object detection (persons, vehicles, weapons)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48640" y="2057400"/>
            <a:ext cx="274320" cy="274320"/>
          </a:xfrm>
          <a:prstGeom prst="ellipse">
            <a:avLst/>
          </a:prstGeom>
          <a:solidFill>
            <a:srgbClr val="00D9FF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205740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761"/>
                </a:solidFill>
              </a:rPr>
              <a:t>3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960120" y="201168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</a:rPr>
              <a:t>Develop anomaly detection for unusual activities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48640" y="2514600"/>
            <a:ext cx="274320" cy="274320"/>
          </a:xfrm>
          <a:prstGeom prst="ellipse">
            <a:avLst/>
          </a:prstGeom>
          <a:solidFill>
            <a:srgbClr val="00D9FF"/>
          </a:solidFill>
          <a:ln/>
        </p:spPr>
      </p:sp>
      <p:sp>
        <p:nvSpPr>
          <p:cNvPr id="14" name="Text 11"/>
          <p:cNvSpPr/>
          <p:nvPr/>
        </p:nvSpPr>
        <p:spPr>
          <a:xfrm>
            <a:off x="548640" y="251460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761"/>
                </a:solidFill>
              </a:rPr>
              <a:t>4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960120" y="246888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</a:rPr>
              <a:t>Reduce false alarm rates using confidence scoring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48640" y="2971800"/>
            <a:ext cx="274320" cy="274320"/>
          </a:xfrm>
          <a:prstGeom prst="ellipse">
            <a:avLst/>
          </a:prstGeom>
          <a:solidFill>
            <a:srgbClr val="00D9FF"/>
          </a:solidFill>
          <a:ln/>
        </p:spPr>
      </p:sp>
      <p:sp>
        <p:nvSpPr>
          <p:cNvPr id="17" name="Text 14"/>
          <p:cNvSpPr/>
          <p:nvPr/>
        </p:nvSpPr>
        <p:spPr>
          <a:xfrm>
            <a:off x="548640" y="297180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761"/>
                </a:solidFill>
              </a:rPr>
              <a:t>5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960120" y="292608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</a:rPr>
              <a:t>Deploy scalable solution on Microsoft Azure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48640" y="3429000"/>
            <a:ext cx="274320" cy="274320"/>
          </a:xfrm>
          <a:prstGeom prst="ellipse">
            <a:avLst/>
          </a:prstGeom>
          <a:solidFill>
            <a:srgbClr val="00D9FF"/>
          </a:solidFill>
          <a:ln/>
        </p:spPr>
      </p:sp>
      <p:sp>
        <p:nvSpPr>
          <p:cNvPr id="20" name="Text 17"/>
          <p:cNvSpPr/>
          <p:nvPr/>
        </p:nvSpPr>
        <p:spPr>
          <a:xfrm>
            <a:off x="548640" y="342900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761"/>
                </a:solidFill>
              </a:rPr>
              <a:t>6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960120" y="338328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</a:rPr>
              <a:t>Create real-time monitoring dashboard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548640" y="3886200"/>
            <a:ext cx="274320" cy="274320"/>
          </a:xfrm>
          <a:prstGeom prst="ellipse">
            <a:avLst/>
          </a:prstGeom>
          <a:solidFill>
            <a:srgbClr val="00D9FF"/>
          </a:solidFill>
          <a:ln/>
        </p:spPr>
      </p:sp>
      <p:sp>
        <p:nvSpPr>
          <p:cNvPr id="23" name="Text 20"/>
          <p:cNvSpPr/>
          <p:nvPr/>
        </p:nvSpPr>
        <p:spPr>
          <a:xfrm>
            <a:off x="548640" y="388620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761"/>
                </a:solidFill>
              </a:rPr>
              <a:t>7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960120" y="384048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</a:rPr>
              <a:t>Align with Microsoft Elevate learning objectives</a:t>
            </a:r>
            <a:endParaRPr lang="en-US" sz="14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D3E6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Objectives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4023360" cy="1051560"/>
          </a:xfrm>
          <a:prstGeom prst="rect">
            <a:avLst/>
          </a:prstGeom>
          <a:solidFill>
            <a:srgbClr val="3D4E76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097280"/>
            <a:ext cx="73152" cy="1051560"/>
          </a:xfrm>
          <a:prstGeom prst="rect">
            <a:avLst/>
          </a:prstGeom>
          <a:solidFill>
            <a:srgbClr val="00D9FF"/>
          </a:solidFill>
          <a:ln/>
        </p:spPr>
      </p:sp>
      <p:sp>
        <p:nvSpPr>
          <p:cNvPr id="5" name="Text 3"/>
          <p:cNvSpPr/>
          <p:nvPr/>
        </p:nvSpPr>
        <p:spPr>
          <a:xfrm>
            <a:off x="594360" y="1188720"/>
            <a:ext cx="228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D9FF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68680" y="1234440"/>
            <a:ext cx="3474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Perform EDA on surveillance datasets (UCF-Crime, xView)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663440" y="1097280"/>
            <a:ext cx="4023360" cy="1051560"/>
          </a:xfrm>
          <a:prstGeom prst="rect">
            <a:avLst/>
          </a:prstGeom>
          <a:solidFill>
            <a:srgbClr val="3D4E76"/>
          </a:solidFill>
          <a:ln/>
        </p:spPr>
      </p:sp>
      <p:sp>
        <p:nvSpPr>
          <p:cNvPr id="8" name="Shape 6"/>
          <p:cNvSpPr/>
          <p:nvPr/>
        </p:nvSpPr>
        <p:spPr>
          <a:xfrm>
            <a:off x="4663440" y="1097280"/>
            <a:ext cx="73152" cy="1051560"/>
          </a:xfrm>
          <a:prstGeom prst="rect">
            <a:avLst/>
          </a:prstGeom>
          <a:solidFill>
            <a:srgbClr val="00D9FF"/>
          </a:solidFill>
          <a:ln/>
        </p:spPr>
      </p:sp>
      <p:sp>
        <p:nvSpPr>
          <p:cNvPr id="9" name="Text 7"/>
          <p:cNvSpPr/>
          <p:nvPr/>
        </p:nvSpPr>
        <p:spPr>
          <a:xfrm>
            <a:off x="4800600" y="1188720"/>
            <a:ext cx="228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D9FF"/>
                </a:solidFill>
              </a:rPr>
              <a:t>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074920" y="1234440"/>
            <a:ext cx="3474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Train YOLOv8 object detection model (&gt;90% accuracy)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2331720"/>
            <a:ext cx="4023360" cy="1051560"/>
          </a:xfrm>
          <a:prstGeom prst="rect">
            <a:avLst/>
          </a:prstGeom>
          <a:solidFill>
            <a:srgbClr val="3D4E76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" y="2331720"/>
            <a:ext cx="73152" cy="1051560"/>
          </a:xfrm>
          <a:prstGeom prst="rect">
            <a:avLst/>
          </a:prstGeom>
          <a:solidFill>
            <a:srgbClr val="00D9FF"/>
          </a:solidFill>
          <a:ln/>
        </p:spPr>
      </p:sp>
      <p:sp>
        <p:nvSpPr>
          <p:cNvPr id="13" name="Text 11"/>
          <p:cNvSpPr/>
          <p:nvPr/>
        </p:nvSpPr>
        <p:spPr>
          <a:xfrm>
            <a:off x="594360" y="2423160"/>
            <a:ext cx="228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D9FF"/>
                </a:solidFill>
              </a:rPr>
              <a:t>3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868680" y="2468880"/>
            <a:ext cx="3474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Build ensemble anomaly detection (Isolation Forest + RF)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663440" y="2331720"/>
            <a:ext cx="4023360" cy="1051560"/>
          </a:xfrm>
          <a:prstGeom prst="rect">
            <a:avLst/>
          </a:prstGeom>
          <a:solidFill>
            <a:srgbClr val="3D4E76"/>
          </a:solidFill>
          <a:ln/>
        </p:spPr>
      </p:sp>
      <p:sp>
        <p:nvSpPr>
          <p:cNvPr id="16" name="Shape 14"/>
          <p:cNvSpPr/>
          <p:nvPr/>
        </p:nvSpPr>
        <p:spPr>
          <a:xfrm>
            <a:off x="4663440" y="2331720"/>
            <a:ext cx="73152" cy="1051560"/>
          </a:xfrm>
          <a:prstGeom prst="rect">
            <a:avLst/>
          </a:prstGeom>
          <a:solidFill>
            <a:srgbClr val="00D9FF"/>
          </a:solidFill>
          <a:ln/>
        </p:spPr>
      </p:sp>
      <p:sp>
        <p:nvSpPr>
          <p:cNvPr id="17" name="Text 15"/>
          <p:cNvSpPr/>
          <p:nvPr/>
        </p:nvSpPr>
        <p:spPr>
          <a:xfrm>
            <a:off x="4800600" y="2423160"/>
            <a:ext cx="228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D9FF"/>
                </a:solidFill>
              </a:rPr>
              <a:t>4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074920" y="2468880"/>
            <a:ext cx="3474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Develop alert prioritization system (&lt;20% false positives)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566160"/>
            <a:ext cx="4023360" cy="1051560"/>
          </a:xfrm>
          <a:prstGeom prst="rect">
            <a:avLst/>
          </a:prstGeom>
          <a:solidFill>
            <a:srgbClr val="3D4E76"/>
          </a:solidFill>
          <a:ln/>
        </p:spPr>
      </p:sp>
      <p:sp>
        <p:nvSpPr>
          <p:cNvPr id="20" name="Shape 18"/>
          <p:cNvSpPr/>
          <p:nvPr/>
        </p:nvSpPr>
        <p:spPr>
          <a:xfrm>
            <a:off x="457200" y="3566160"/>
            <a:ext cx="73152" cy="1051560"/>
          </a:xfrm>
          <a:prstGeom prst="rect">
            <a:avLst/>
          </a:prstGeom>
          <a:solidFill>
            <a:srgbClr val="00D9FF"/>
          </a:solidFill>
          <a:ln/>
        </p:spPr>
      </p:sp>
      <p:sp>
        <p:nvSpPr>
          <p:cNvPr id="21" name="Text 19"/>
          <p:cNvSpPr/>
          <p:nvPr/>
        </p:nvSpPr>
        <p:spPr>
          <a:xfrm>
            <a:off x="594360" y="3657600"/>
            <a:ext cx="228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D9FF"/>
                </a:solidFill>
              </a:rPr>
              <a:t>5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868680" y="3703320"/>
            <a:ext cx="3474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Deploy on Azure (Functions, Blob Storage, Cosmos DB)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663440" y="3566160"/>
            <a:ext cx="4023360" cy="1051560"/>
          </a:xfrm>
          <a:prstGeom prst="rect">
            <a:avLst/>
          </a:prstGeom>
          <a:solidFill>
            <a:srgbClr val="3D4E76"/>
          </a:solidFill>
          <a:ln/>
        </p:spPr>
      </p:sp>
      <p:sp>
        <p:nvSpPr>
          <p:cNvPr id="24" name="Shape 22"/>
          <p:cNvSpPr/>
          <p:nvPr/>
        </p:nvSpPr>
        <p:spPr>
          <a:xfrm>
            <a:off x="4663440" y="3566160"/>
            <a:ext cx="73152" cy="1051560"/>
          </a:xfrm>
          <a:prstGeom prst="rect">
            <a:avLst/>
          </a:prstGeom>
          <a:solidFill>
            <a:srgbClr val="00D9FF"/>
          </a:solidFill>
          <a:ln/>
        </p:spPr>
      </p:sp>
      <p:sp>
        <p:nvSpPr>
          <p:cNvPr id="25" name="Text 23"/>
          <p:cNvSpPr/>
          <p:nvPr/>
        </p:nvSpPr>
        <p:spPr>
          <a:xfrm>
            <a:off x="4800600" y="3657600"/>
            <a:ext cx="228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D9FF"/>
                </a:solidFill>
              </a:rPr>
              <a:t>6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5074920" y="3703320"/>
            <a:ext cx="3474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Create Power BI dashboard for real-time monitoring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D3E6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Features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3931920" cy="1463040"/>
          </a:xfrm>
          <a:prstGeom prst="rect">
            <a:avLst/>
          </a:prstGeom>
          <a:solidFill>
            <a:srgbClr val="3D4E76"/>
          </a:solidFill>
          <a:ln/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234440"/>
            <a:ext cx="320040" cy="3200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51560" y="12344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D9FF"/>
                </a:solidFill>
              </a:rPr>
              <a:t>Detection Module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640080" y="1691640"/>
            <a:ext cx="182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D9FF"/>
                </a:solidFill>
              </a:rPr>
              <a:t>•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822960" y="1691640"/>
            <a:ext cx="3383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Real-time object detection (persons, vehicles, weapons)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640080" y="1965960"/>
            <a:ext cx="182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D9FF"/>
                </a:solidFill>
              </a:rPr>
              <a:t>•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822960" y="1965960"/>
            <a:ext cx="3383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Frame-by-frame video analysis (30+ FPS)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40080" y="2240280"/>
            <a:ext cx="182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D9FF"/>
                </a:solidFill>
              </a:rPr>
              <a:t>•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822960" y="2240280"/>
            <a:ext cx="3383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Bounding box generation with confidence scores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754880" y="1097280"/>
            <a:ext cx="3931920" cy="1463040"/>
          </a:xfrm>
          <a:prstGeom prst="rect">
            <a:avLst/>
          </a:prstGeom>
          <a:solidFill>
            <a:srgbClr val="3D4E76"/>
          </a:solidFill>
          <a:ln/>
        </p:spPr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7760" y="1234440"/>
            <a:ext cx="320040" cy="32004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349240" y="12344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6B35"/>
                </a:solidFill>
              </a:rPr>
              <a:t>Anomaly Detection</a:t>
            </a:r>
            <a:endParaRPr lang="en-US" sz="1800" dirty="0"/>
          </a:p>
        </p:txBody>
      </p:sp>
      <p:sp>
        <p:nvSpPr>
          <p:cNvPr id="15" name="Text 11"/>
          <p:cNvSpPr/>
          <p:nvPr/>
        </p:nvSpPr>
        <p:spPr>
          <a:xfrm>
            <a:off x="4937760" y="1691640"/>
            <a:ext cx="182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6B35"/>
                </a:solidFill>
              </a:rPr>
              <a:t>•</a:t>
            </a:r>
            <a:endParaRPr lang="en-US" sz="1400" dirty="0"/>
          </a:p>
        </p:txBody>
      </p:sp>
      <p:sp>
        <p:nvSpPr>
          <p:cNvPr id="16" name="Text 12"/>
          <p:cNvSpPr/>
          <p:nvPr/>
        </p:nvSpPr>
        <p:spPr>
          <a:xfrm>
            <a:off x="5120640" y="1691640"/>
            <a:ext cx="3383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Identify unusual movement patterns</a:t>
            </a:r>
            <a:endParaRPr lang="en-US" sz="1200" dirty="0"/>
          </a:p>
        </p:txBody>
      </p:sp>
      <p:sp>
        <p:nvSpPr>
          <p:cNvPr id="17" name="Text 13"/>
          <p:cNvSpPr/>
          <p:nvPr/>
        </p:nvSpPr>
        <p:spPr>
          <a:xfrm>
            <a:off x="4937760" y="1965960"/>
            <a:ext cx="182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6B35"/>
                </a:solidFill>
              </a:rPr>
              <a:t>•</a:t>
            </a:r>
            <a:endParaRPr lang="en-US" sz="1400" dirty="0"/>
          </a:p>
        </p:txBody>
      </p:sp>
      <p:sp>
        <p:nvSpPr>
          <p:cNvPr id="18" name="Text 14"/>
          <p:cNvSpPr/>
          <p:nvPr/>
        </p:nvSpPr>
        <p:spPr>
          <a:xfrm>
            <a:off x="5120640" y="1965960"/>
            <a:ext cx="3383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Detect suspicious activities automatically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4937760" y="2240280"/>
            <a:ext cx="182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6B35"/>
                </a:solidFill>
              </a:rPr>
              <a:t>•</a:t>
            </a:r>
            <a:endParaRPr lang="en-US" sz="1400" dirty="0"/>
          </a:p>
        </p:txBody>
      </p:sp>
      <p:sp>
        <p:nvSpPr>
          <p:cNvPr id="20" name="Text 16"/>
          <p:cNvSpPr/>
          <p:nvPr/>
        </p:nvSpPr>
        <p:spPr>
          <a:xfrm>
            <a:off x="5120640" y="2240280"/>
            <a:ext cx="3383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Machine learning-based classification</a:t>
            </a:r>
            <a:endParaRPr lang="en-US" sz="1200" dirty="0"/>
          </a:p>
        </p:txBody>
      </p:sp>
      <p:sp>
        <p:nvSpPr>
          <p:cNvPr id="21" name="Shape 17"/>
          <p:cNvSpPr/>
          <p:nvPr/>
        </p:nvSpPr>
        <p:spPr>
          <a:xfrm>
            <a:off x="457200" y="2926080"/>
            <a:ext cx="8229600" cy="164592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22" name="Text 18"/>
          <p:cNvSpPr/>
          <p:nvPr/>
        </p:nvSpPr>
        <p:spPr>
          <a:xfrm>
            <a:off x="457200" y="32004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0D9FF"/>
                </a:solidFill>
              </a:rPr>
              <a:t>Powered by YOLOv8 + Ensemble Machine Learning</a:t>
            </a:r>
            <a:endParaRPr lang="en-US" sz="2000" dirty="0"/>
          </a:p>
        </p:txBody>
      </p:sp>
      <p:sp>
        <p:nvSpPr>
          <p:cNvPr id="23" name="Text 19"/>
          <p:cNvSpPr/>
          <p:nvPr/>
        </p:nvSpPr>
        <p:spPr>
          <a:xfrm>
            <a:off x="914400" y="365760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CADCFC"/>
                </a:solidFill>
              </a:rPr>
              <a:t>Combining state-of-the-art deep learning with traditional ML for robust threat detection</a:t>
            </a:r>
            <a:endParaRPr lang="en-US" sz="14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14:window dir="ver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D3E6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Features (Continued)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3931920" cy="1645920"/>
          </a:xfrm>
          <a:prstGeom prst="rect">
            <a:avLst/>
          </a:prstGeom>
          <a:solidFill>
            <a:srgbClr val="3D4E76"/>
          </a:solidFill>
          <a:ln/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234440"/>
            <a:ext cx="320040" cy="3200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51560" y="12344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6B35"/>
                </a:solidFill>
              </a:rPr>
              <a:t>Alert System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640080" y="1737360"/>
            <a:ext cx="182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6B35"/>
                </a:solidFill>
              </a:rPr>
              <a:t>•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82296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Priority-based alert generation (High/Medium/Low)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640080" y="2057400"/>
            <a:ext cx="182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6B35"/>
                </a:solidFill>
              </a:rPr>
              <a:t>•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822960" y="205740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False positive filtering using confidence thresholding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40080" y="2377440"/>
            <a:ext cx="182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6B35"/>
                </a:solidFill>
              </a:rPr>
              <a:t>•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822960" y="237744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Notification via email/SMS for critical alerts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754880" y="1097280"/>
            <a:ext cx="3931920" cy="1645920"/>
          </a:xfrm>
          <a:prstGeom prst="rect">
            <a:avLst/>
          </a:prstGeom>
          <a:solidFill>
            <a:srgbClr val="3D4E76"/>
          </a:solidFill>
          <a:ln/>
        </p:spPr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7760" y="1234440"/>
            <a:ext cx="320040" cy="32004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349240" y="12344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D9FF"/>
                </a:solidFill>
              </a:rPr>
              <a:t>Dashboard</a:t>
            </a:r>
            <a:endParaRPr lang="en-US" sz="1800" dirty="0"/>
          </a:p>
        </p:txBody>
      </p:sp>
      <p:sp>
        <p:nvSpPr>
          <p:cNvPr id="15" name="Text 11"/>
          <p:cNvSpPr/>
          <p:nvPr/>
        </p:nvSpPr>
        <p:spPr>
          <a:xfrm>
            <a:off x="4937760" y="1737360"/>
            <a:ext cx="182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D9FF"/>
                </a:solidFill>
              </a:rPr>
              <a:t>•</a:t>
            </a:r>
            <a:endParaRPr lang="en-US" sz="1400" dirty="0"/>
          </a:p>
        </p:txBody>
      </p:sp>
      <p:sp>
        <p:nvSpPr>
          <p:cNvPr id="16" name="Text 12"/>
          <p:cNvSpPr/>
          <p:nvPr/>
        </p:nvSpPr>
        <p:spPr>
          <a:xfrm>
            <a:off x="512064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Real-time alert feed (last 24 hours)</a:t>
            </a:r>
            <a:endParaRPr lang="en-US" sz="1200" dirty="0"/>
          </a:p>
        </p:txBody>
      </p:sp>
      <p:sp>
        <p:nvSpPr>
          <p:cNvPr id="17" name="Text 13"/>
          <p:cNvSpPr/>
          <p:nvPr/>
        </p:nvSpPr>
        <p:spPr>
          <a:xfrm>
            <a:off x="4937760" y="2057400"/>
            <a:ext cx="182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D9FF"/>
                </a:solidFill>
              </a:rPr>
              <a:t>•</a:t>
            </a:r>
            <a:endParaRPr lang="en-US" sz="1400" dirty="0"/>
          </a:p>
        </p:txBody>
      </p:sp>
      <p:sp>
        <p:nvSpPr>
          <p:cNvPr id="18" name="Text 14"/>
          <p:cNvSpPr/>
          <p:nvPr/>
        </p:nvSpPr>
        <p:spPr>
          <a:xfrm>
            <a:off x="5120640" y="205740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Anomaly heatmap showing high-risk zones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4937760" y="2377440"/>
            <a:ext cx="182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D9FF"/>
                </a:solidFill>
              </a:rPr>
              <a:t>•</a:t>
            </a:r>
            <a:endParaRPr lang="en-US" sz="1400" dirty="0"/>
          </a:p>
        </p:txBody>
      </p:sp>
      <p:sp>
        <p:nvSpPr>
          <p:cNvPr id="20" name="Text 16"/>
          <p:cNvSpPr/>
          <p:nvPr/>
        </p:nvSpPr>
        <p:spPr>
          <a:xfrm>
            <a:off x="5120640" y="237744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Detection count trends and analytics</a:t>
            </a:r>
            <a:endParaRPr lang="en-US" sz="1200" dirty="0"/>
          </a:p>
        </p:txBody>
      </p:sp>
      <p:sp>
        <p:nvSpPr>
          <p:cNvPr id="21" name="Text 17"/>
          <p:cNvSpPr/>
          <p:nvPr/>
        </p:nvSpPr>
        <p:spPr>
          <a:xfrm>
            <a:off x="457200" y="3017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0D9FF"/>
                </a:solidFill>
              </a:rPr>
              <a:t>Seamless Integration</a:t>
            </a:r>
            <a:endParaRPr lang="en-US" sz="2000" dirty="0"/>
          </a:p>
        </p:txBody>
      </p:sp>
      <p:pic>
        <p:nvPicPr>
          <p:cNvPr id="2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3474720"/>
            <a:ext cx="457200" cy="457200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731520" y="402336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8B8D8"/>
                </a:solidFill>
              </a:rPr>
              <a:t>Video Input</a:t>
            </a:r>
            <a:endParaRPr lang="en-US" sz="1000" dirty="0"/>
          </a:p>
        </p:txBody>
      </p:sp>
      <p:sp>
        <p:nvSpPr>
          <p:cNvPr id="24" name="Text 19"/>
          <p:cNvSpPr/>
          <p:nvPr/>
        </p:nvSpPr>
        <p:spPr>
          <a:xfrm>
            <a:off x="1554480" y="361188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0D9FF"/>
                </a:solidFill>
              </a:rPr>
              <a:t>→</a:t>
            </a:r>
            <a:endParaRPr lang="en-US" sz="2000" dirty="0"/>
          </a:p>
        </p:txBody>
      </p:sp>
      <p:pic>
        <p:nvPicPr>
          <p:cNvPr id="2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77440" y="3474720"/>
            <a:ext cx="457200" cy="457200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2194560" y="402336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8B8D8"/>
                </a:solidFill>
              </a:rPr>
              <a:t>AI Processing</a:t>
            </a:r>
            <a:endParaRPr lang="en-US" sz="1000" dirty="0"/>
          </a:p>
        </p:txBody>
      </p:sp>
      <p:sp>
        <p:nvSpPr>
          <p:cNvPr id="27" name="Text 21"/>
          <p:cNvSpPr/>
          <p:nvPr/>
        </p:nvSpPr>
        <p:spPr>
          <a:xfrm>
            <a:off x="3017520" y="361188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0D9FF"/>
                </a:solidFill>
              </a:rPr>
              <a:t>→</a:t>
            </a:r>
            <a:endParaRPr lang="en-US" sz="2000" dirty="0"/>
          </a:p>
        </p:txBody>
      </p:sp>
      <p:pic>
        <p:nvPicPr>
          <p:cNvPr id="28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0" y="3474720"/>
            <a:ext cx="457200" cy="457200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3657600" y="402336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8B8D8"/>
                </a:solidFill>
              </a:rPr>
              <a:t>Alerts</a:t>
            </a:r>
            <a:endParaRPr lang="en-US" sz="1000" dirty="0"/>
          </a:p>
        </p:txBody>
      </p:sp>
      <p:sp>
        <p:nvSpPr>
          <p:cNvPr id="30" name="Text 23"/>
          <p:cNvSpPr/>
          <p:nvPr/>
        </p:nvSpPr>
        <p:spPr>
          <a:xfrm>
            <a:off x="4480560" y="361188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0D9FF"/>
                </a:solidFill>
              </a:rPr>
              <a:t>→</a:t>
            </a:r>
            <a:endParaRPr lang="en-US" sz="2000" dirty="0"/>
          </a:p>
        </p:txBody>
      </p:sp>
      <p:pic>
        <p:nvPicPr>
          <p:cNvPr id="31" name="Image 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03520" y="3474720"/>
            <a:ext cx="457200" cy="457200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5120640" y="402336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8B8D8"/>
                </a:solidFill>
              </a:rPr>
              <a:t>Cloud Storage</a:t>
            </a:r>
            <a:endParaRPr lang="en-US" sz="1000" dirty="0"/>
          </a:p>
        </p:txBody>
      </p:sp>
      <p:sp>
        <p:nvSpPr>
          <p:cNvPr id="33" name="Text 25"/>
          <p:cNvSpPr/>
          <p:nvPr/>
        </p:nvSpPr>
        <p:spPr>
          <a:xfrm>
            <a:off x="5943600" y="361188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0D9FF"/>
                </a:solidFill>
              </a:rPr>
              <a:t>→</a:t>
            </a:r>
            <a:endParaRPr lang="en-US" sz="2000" dirty="0"/>
          </a:p>
        </p:txBody>
      </p:sp>
      <p:pic>
        <p:nvPicPr>
          <p:cNvPr id="34" name="Image 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66560" y="3474720"/>
            <a:ext cx="457200" cy="457200"/>
          </a:xfrm>
          <a:prstGeom prst="rect">
            <a:avLst/>
          </a:prstGeom>
        </p:spPr>
      </p:pic>
      <p:sp>
        <p:nvSpPr>
          <p:cNvPr id="35" name="Text 26"/>
          <p:cNvSpPr/>
          <p:nvPr/>
        </p:nvSpPr>
        <p:spPr>
          <a:xfrm>
            <a:off x="6583680" y="402336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8B8D8"/>
                </a:solidFill>
              </a:rPr>
              <a:t>Dashboard</a:t>
            </a:r>
            <a:endParaRPr lang="en-US" sz="1000" dirty="0"/>
          </a:p>
        </p:txBody>
      </p:sp>
    </p:spTree>
  </p:cSld>
  <p:clrMapOvr>
    <a:masterClrMapping/>
  </p:clrMapOvr>
  <p:transition spd="slow">
    <p:cover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2D3E6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 Flow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1371600" y="1005840"/>
            <a:ext cx="6400800" cy="457200"/>
          </a:xfrm>
          <a:prstGeom prst="rect">
            <a:avLst/>
          </a:prstGeom>
          <a:solidFill>
            <a:srgbClr val="3D4E76"/>
          </a:solidFill>
          <a:ln/>
        </p:spPr>
      </p:sp>
      <p:sp>
        <p:nvSpPr>
          <p:cNvPr id="4" name="Shape 2"/>
          <p:cNvSpPr/>
          <p:nvPr/>
        </p:nvSpPr>
        <p:spPr>
          <a:xfrm>
            <a:off x="731520" y="1005840"/>
            <a:ext cx="365760" cy="365760"/>
          </a:xfrm>
          <a:prstGeom prst="ellipse">
            <a:avLst/>
          </a:prstGeom>
          <a:solidFill>
            <a:srgbClr val="00D9FF"/>
          </a:solidFill>
          <a:ln/>
        </p:spPr>
      </p:sp>
      <p:sp>
        <p:nvSpPr>
          <p:cNvPr id="5" name="Text 3"/>
          <p:cNvSpPr/>
          <p:nvPr/>
        </p:nvSpPr>
        <p:spPr>
          <a:xfrm>
            <a:off x="718246" y="9829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76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554480" y="105156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Data Input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931920" y="10515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Frame Extraction (OpenCV)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09686" y="1371600"/>
            <a:ext cx="18288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0D9FF"/>
                </a:solidFill>
              </a:rPr>
              <a:t>↓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1371600" y="1508760"/>
            <a:ext cx="6400800" cy="457200"/>
          </a:xfrm>
          <a:prstGeom prst="rect">
            <a:avLst/>
          </a:prstGeom>
          <a:solidFill>
            <a:srgbClr val="3D4E76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0" y="1523140"/>
            <a:ext cx="365760" cy="365760"/>
          </a:xfrm>
          <a:prstGeom prst="ellipse">
            <a:avLst/>
          </a:prstGeom>
          <a:solidFill>
            <a:srgbClr val="00D9FF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14943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761"/>
                </a:solidFill>
              </a:rPr>
              <a:t>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554480" y="15544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Preprocessing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931920" y="15544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Resize, Normalize, Upload to Azure Blob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22960" y="1904755"/>
            <a:ext cx="18288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0D9FF"/>
                </a:solidFill>
              </a:rPr>
              <a:t>↓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1371600" y="2011680"/>
            <a:ext cx="6400800" cy="457200"/>
          </a:xfrm>
          <a:prstGeom prst="rect">
            <a:avLst/>
          </a:prstGeom>
          <a:solidFill>
            <a:srgbClr val="3D4E76"/>
          </a:solidFill>
          <a:ln/>
        </p:spPr>
      </p:sp>
      <p:sp>
        <p:nvSpPr>
          <p:cNvPr id="16" name="Shape 14"/>
          <p:cNvSpPr/>
          <p:nvPr/>
        </p:nvSpPr>
        <p:spPr>
          <a:xfrm>
            <a:off x="731520" y="2057400"/>
            <a:ext cx="365760" cy="365760"/>
          </a:xfrm>
          <a:prstGeom prst="ellipse">
            <a:avLst/>
          </a:prstGeom>
          <a:solidFill>
            <a:srgbClr val="00D9FF"/>
          </a:solidFill>
          <a:ln/>
        </p:spPr>
      </p:sp>
      <p:sp>
        <p:nvSpPr>
          <p:cNvPr id="17" name="Text 15"/>
          <p:cNvSpPr/>
          <p:nvPr/>
        </p:nvSpPr>
        <p:spPr>
          <a:xfrm>
            <a:off x="731520" y="20574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761"/>
                </a:solidFill>
              </a:rPr>
              <a:t>3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554480" y="20574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Detection Layer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931920" y="20574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YOLOv8 Object Detection + Anomaly Detection (Ensemble)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2960" y="2423160"/>
            <a:ext cx="18288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0D9FF"/>
                </a:solidFill>
              </a:rPr>
              <a:t>↓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371600" y="2514600"/>
            <a:ext cx="6400800" cy="457200"/>
          </a:xfrm>
          <a:prstGeom prst="rect">
            <a:avLst/>
          </a:prstGeom>
          <a:solidFill>
            <a:srgbClr val="3D4E76"/>
          </a:solidFill>
          <a:ln/>
        </p:spPr>
      </p:sp>
      <p:sp>
        <p:nvSpPr>
          <p:cNvPr id="22" name="Shape 20"/>
          <p:cNvSpPr/>
          <p:nvPr/>
        </p:nvSpPr>
        <p:spPr>
          <a:xfrm>
            <a:off x="731520" y="2583180"/>
            <a:ext cx="365760" cy="365760"/>
          </a:xfrm>
          <a:prstGeom prst="ellipse">
            <a:avLst/>
          </a:prstGeom>
          <a:solidFill>
            <a:srgbClr val="00D9FF"/>
          </a:solidFill>
          <a:ln/>
        </p:spPr>
      </p:sp>
      <p:sp>
        <p:nvSpPr>
          <p:cNvPr id="23" name="Text 21"/>
          <p:cNvSpPr/>
          <p:nvPr/>
        </p:nvSpPr>
        <p:spPr>
          <a:xfrm>
            <a:off x="731520" y="25603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761"/>
                </a:solidFill>
              </a:rPr>
              <a:t>4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554480" y="256032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Alert Processing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3931920" y="25603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Confidence Filtering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842133" y="2920918"/>
            <a:ext cx="18288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0D9FF"/>
                </a:solidFill>
              </a:rPr>
              <a:t>↓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1371600" y="3017520"/>
            <a:ext cx="6400800" cy="457200"/>
          </a:xfrm>
          <a:prstGeom prst="rect">
            <a:avLst/>
          </a:prstGeom>
          <a:solidFill>
            <a:srgbClr val="3D4E76"/>
          </a:solidFill>
          <a:ln/>
        </p:spPr>
      </p:sp>
      <p:sp>
        <p:nvSpPr>
          <p:cNvPr id="28" name="Shape 26"/>
          <p:cNvSpPr/>
          <p:nvPr/>
        </p:nvSpPr>
        <p:spPr>
          <a:xfrm>
            <a:off x="731520" y="3063240"/>
            <a:ext cx="365760" cy="365760"/>
          </a:xfrm>
          <a:prstGeom prst="ellipse">
            <a:avLst/>
          </a:prstGeom>
          <a:solidFill>
            <a:srgbClr val="00D9FF"/>
          </a:solidFill>
          <a:ln/>
        </p:spPr>
      </p:sp>
      <p:sp>
        <p:nvSpPr>
          <p:cNvPr id="29" name="Text 27"/>
          <p:cNvSpPr/>
          <p:nvPr/>
        </p:nvSpPr>
        <p:spPr>
          <a:xfrm>
            <a:off x="731520" y="30632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761"/>
                </a:solidFill>
              </a:rPr>
              <a:t>5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1554480" y="306324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Notification Layer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31920" y="30632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Email/SMS Alerts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822960" y="3440799"/>
            <a:ext cx="18288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0D9FF"/>
                </a:solidFill>
              </a:rPr>
              <a:t>↓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1371600" y="3520440"/>
            <a:ext cx="6400800" cy="457200"/>
          </a:xfrm>
          <a:prstGeom prst="rect">
            <a:avLst/>
          </a:prstGeom>
          <a:solidFill>
            <a:srgbClr val="3D4E76"/>
          </a:solidFill>
          <a:ln/>
        </p:spPr>
      </p:sp>
      <p:sp>
        <p:nvSpPr>
          <p:cNvPr id="34" name="Shape 32"/>
          <p:cNvSpPr/>
          <p:nvPr/>
        </p:nvSpPr>
        <p:spPr>
          <a:xfrm>
            <a:off x="735945" y="3589758"/>
            <a:ext cx="365760" cy="365760"/>
          </a:xfrm>
          <a:prstGeom prst="ellipse">
            <a:avLst/>
          </a:prstGeom>
          <a:solidFill>
            <a:srgbClr val="00D9FF"/>
          </a:solidFill>
          <a:ln/>
        </p:spPr>
      </p:sp>
      <p:sp>
        <p:nvSpPr>
          <p:cNvPr id="35" name="Text 33"/>
          <p:cNvSpPr/>
          <p:nvPr/>
        </p:nvSpPr>
        <p:spPr>
          <a:xfrm>
            <a:off x="731520" y="35661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761"/>
                </a:solidFill>
              </a:rPr>
              <a:t>6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1554480" y="356616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Visualization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3931920" y="35661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Power BI Dashboard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822960" y="3985014"/>
            <a:ext cx="18288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0D9FF"/>
                </a:solidFill>
              </a:rPr>
              <a:t>↓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1371600" y="4023360"/>
            <a:ext cx="6400800" cy="457200"/>
          </a:xfrm>
          <a:prstGeom prst="rect">
            <a:avLst/>
          </a:prstGeom>
          <a:solidFill>
            <a:srgbClr val="3D4E76"/>
          </a:solidFill>
          <a:ln/>
        </p:spPr>
      </p:sp>
      <p:sp>
        <p:nvSpPr>
          <p:cNvPr id="40" name="Shape 38"/>
          <p:cNvSpPr/>
          <p:nvPr/>
        </p:nvSpPr>
        <p:spPr>
          <a:xfrm>
            <a:off x="731520" y="4160520"/>
            <a:ext cx="365760" cy="365760"/>
          </a:xfrm>
          <a:prstGeom prst="ellipse">
            <a:avLst/>
          </a:prstGeom>
          <a:solidFill>
            <a:srgbClr val="00D9FF"/>
          </a:solidFill>
          <a:ln/>
        </p:spPr>
      </p:sp>
      <p:sp>
        <p:nvSpPr>
          <p:cNvPr id="41" name="Text 39"/>
          <p:cNvSpPr/>
          <p:nvPr/>
        </p:nvSpPr>
        <p:spPr>
          <a:xfrm>
            <a:off x="718246" y="41605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761"/>
                </a:solidFill>
              </a:rPr>
              <a:t>7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1554480" y="40690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Storage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3931920" y="40690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Azure Blob + Cosmos DB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14:flip dir="r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2D3E6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20040"/>
            <a:ext cx="365760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36576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Stack</a:t>
            </a:r>
            <a:endParaRPr lang="en-US" sz="3600" dirty="0"/>
          </a:p>
        </p:txBody>
      </p:sp>
      <p:sp>
        <p:nvSpPr>
          <p:cNvPr id="4" name="Shape 1"/>
          <p:cNvSpPr/>
          <p:nvPr/>
        </p:nvSpPr>
        <p:spPr>
          <a:xfrm>
            <a:off x="457201" y="1028700"/>
            <a:ext cx="3931920" cy="2103120"/>
          </a:xfrm>
          <a:prstGeom prst="rect">
            <a:avLst/>
          </a:prstGeom>
          <a:solidFill>
            <a:srgbClr val="3D4E76"/>
          </a:solidFill>
          <a:ln/>
        </p:spPr>
      </p:sp>
      <p:sp>
        <p:nvSpPr>
          <p:cNvPr id="5" name="Text 2"/>
          <p:cNvSpPr/>
          <p:nvPr/>
        </p:nvSpPr>
        <p:spPr>
          <a:xfrm>
            <a:off x="640080" y="114300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D9FF"/>
                </a:solidFill>
              </a:rPr>
              <a:t>Programming &amp; Libraries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731520" y="1508760"/>
            <a:ext cx="137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D9FF"/>
                </a:solidFill>
              </a:rPr>
              <a:t>•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914400" y="150876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ADCFC"/>
                </a:solidFill>
              </a:rPr>
              <a:t>Python 3.9+ (Core language)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731520" y="1783080"/>
            <a:ext cx="137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D9FF"/>
                </a:solidFill>
              </a:rPr>
              <a:t>•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914400" y="178308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ADCFC"/>
                </a:solidFill>
              </a:rPr>
              <a:t>OpenCV (Video processing)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731520" y="2057400"/>
            <a:ext cx="137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D9FF"/>
                </a:solidFill>
              </a:rPr>
              <a:t>•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914400" y="205740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ADCFC"/>
                </a:solidFill>
              </a:rPr>
              <a:t>TensorFlow, Keras (Deep Learning)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731520" y="2331720"/>
            <a:ext cx="137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D9FF"/>
                </a:solidFill>
              </a:rPr>
              <a:t>•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914400" y="233172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ADCFC"/>
                </a:solidFill>
              </a:rPr>
              <a:t>Scikit-learn (Machine Learning)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731520" y="2606040"/>
            <a:ext cx="137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D9FF"/>
                </a:solidFill>
              </a:rPr>
              <a:t>•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914400" y="260604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ADCFC"/>
                </a:solidFill>
              </a:rPr>
              <a:t>Pandas, NumPy (Data manipulation)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731520" y="2880360"/>
            <a:ext cx="137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D9FF"/>
                </a:solidFill>
              </a:rPr>
              <a:t>•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914400" y="288036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ADCFC"/>
                </a:solidFill>
              </a:rPr>
              <a:t>Matplotlib, Seaborn (Visualization)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754880" y="1005840"/>
            <a:ext cx="3931920" cy="2103120"/>
          </a:xfrm>
          <a:prstGeom prst="rect">
            <a:avLst/>
          </a:prstGeom>
          <a:solidFill>
            <a:srgbClr val="1E2761"/>
          </a:solidFill>
          <a:ln/>
        </p:spPr>
      </p:sp>
      <p:pic>
        <p:nvPicPr>
          <p:cNvPr id="1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0" y="1257300"/>
            <a:ext cx="914400" cy="914400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4892040" y="2185711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6B35"/>
                </a:solidFill>
              </a:rPr>
              <a:t>Object Detection</a:t>
            </a:r>
            <a:endParaRPr lang="en-US" sz="1800" dirty="0"/>
          </a:p>
        </p:txBody>
      </p:sp>
      <p:sp>
        <p:nvSpPr>
          <p:cNvPr id="21" name="Text 17"/>
          <p:cNvSpPr/>
          <p:nvPr/>
        </p:nvSpPr>
        <p:spPr>
          <a:xfrm>
            <a:off x="4937760" y="2537460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YOLOv8</a:t>
            </a:r>
            <a:endParaRPr lang="en-US" sz="1600" dirty="0"/>
          </a:p>
        </p:txBody>
      </p:sp>
      <p:sp>
        <p:nvSpPr>
          <p:cNvPr id="22" name="Text 18"/>
          <p:cNvSpPr/>
          <p:nvPr/>
        </p:nvSpPr>
        <p:spPr>
          <a:xfrm>
            <a:off x="4937760" y="2811780"/>
            <a:ext cx="3566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A8B8D8"/>
                </a:solidFill>
              </a:rPr>
              <a:t>(Ultralytics)</a:t>
            </a:r>
            <a:endParaRPr lang="en-US" sz="1200" dirty="0"/>
          </a:p>
        </p:txBody>
      </p:sp>
      <p:sp>
        <p:nvSpPr>
          <p:cNvPr id="23" name="Shape 19"/>
          <p:cNvSpPr/>
          <p:nvPr/>
        </p:nvSpPr>
        <p:spPr>
          <a:xfrm>
            <a:off x="457200" y="3383280"/>
            <a:ext cx="8229600" cy="731520"/>
          </a:xfrm>
          <a:prstGeom prst="rect">
            <a:avLst/>
          </a:prstGeom>
          <a:solidFill>
            <a:srgbClr val="3D4E76"/>
          </a:solidFill>
          <a:ln/>
        </p:spPr>
      </p:sp>
      <p:sp>
        <p:nvSpPr>
          <p:cNvPr id="24" name="Text 20"/>
          <p:cNvSpPr/>
          <p:nvPr/>
        </p:nvSpPr>
        <p:spPr>
          <a:xfrm>
            <a:off x="914400" y="356616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CADCFC"/>
                </a:solidFill>
              </a:rPr>
              <a:t>Leveraging industry-standard tools and frameworks for production-grade AI development</a:t>
            </a:r>
            <a:endParaRPr lang="en-US" sz="13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conveyor dir="l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D3E6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20040"/>
            <a:ext cx="365760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36576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&amp; Deployment Stack</a:t>
            </a:r>
            <a:endParaRPr lang="en-US" sz="3600" dirty="0"/>
          </a:p>
        </p:txBody>
      </p:sp>
      <p:sp>
        <p:nvSpPr>
          <p:cNvPr id="4" name="Shape 1"/>
          <p:cNvSpPr/>
          <p:nvPr/>
        </p:nvSpPr>
        <p:spPr>
          <a:xfrm>
            <a:off x="457200" y="1005840"/>
            <a:ext cx="5303520" cy="1828800"/>
          </a:xfrm>
          <a:prstGeom prst="rect">
            <a:avLst/>
          </a:prstGeom>
          <a:solidFill>
            <a:srgbClr val="3D4E76"/>
          </a:solidFill>
          <a:ln/>
        </p:spPr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1143000"/>
            <a:ext cx="274320" cy="27432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005840" y="11430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D9FF"/>
                </a:solidFill>
              </a:rPr>
              <a:t>Microsoft Azure Services</a:t>
            </a:r>
            <a:endParaRPr lang="en-US" sz="1600" dirty="0"/>
          </a:p>
        </p:txBody>
      </p:sp>
      <p:sp>
        <p:nvSpPr>
          <p:cNvPr id="7" name="Text 3"/>
          <p:cNvSpPr/>
          <p:nvPr/>
        </p:nvSpPr>
        <p:spPr>
          <a:xfrm>
            <a:off x="640080" y="1508760"/>
            <a:ext cx="137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D9FF"/>
                </a:solidFill>
              </a:rPr>
              <a:t>•</a:t>
            </a:r>
            <a:endParaRPr lang="en-US" sz="1100" dirty="0"/>
          </a:p>
        </p:txBody>
      </p:sp>
      <p:sp>
        <p:nvSpPr>
          <p:cNvPr id="8" name="Text 4"/>
          <p:cNvSpPr/>
          <p:nvPr/>
        </p:nvSpPr>
        <p:spPr>
          <a:xfrm>
            <a:off x="822960" y="1508760"/>
            <a:ext cx="4754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ADCFC"/>
                </a:solidFill>
              </a:rPr>
              <a:t>Azure Blob Storage (Video/frame storage)</a:t>
            </a:r>
            <a:endParaRPr lang="en-US" sz="1050" dirty="0"/>
          </a:p>
        </p:txBody>
      </p:sp>
      <p:sp>
        <p:nvSpPr>
          <p:cNvPr id="9" name="Text 5"/>
          <p:cNvSpPr/>
          <p:nvPr/>
        </p:nvSpPr>
        <p:spPr>
          <a:xfrm>
            <a:off x="640080" y="1755648"/>
            <a:ext cx="137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D9FF"/>
                </a:solidFill>
              </a:rPr>
              <a:t>•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822960" y="1755648"/>
            <a:ext cx="4754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ADCFC"/>
                </a:solidFill>
              </a:rPr>
              <a:t>Azure Functions (Serverless processing)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2002536"/>
            <a:ext cx="137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D9FF"/>
                </a:solidFill>
              </a:rPr>
              <a:t>•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822960" y="2002536"/>
            <a:ext cx="4754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ADCFC"/>
                </a:solidFill>
              </a:rPr>
              <a:t>Azure Cosmos DB (Alert logs, metadata)</a:t>
            </a:r>
            <a:endParaRPr lang="en-US" sz="1050" dirty="0"/>
          </a:p>
        </p:txBody>
      </p:sp>
      <p:sp>
        <p:nvSpPr>
          <p:cNvPr id="13" name="Text 9"/>
          <p:cNvSpPr/>
          <p:nvPr/>
        </p:nvSpPr>
        <p:spPr>
          <a:xfrm>
            <a:off x="640080" y="2249424"/>
            <a:ext cx="137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D9FF"/>
                </a:solidFill>
              </a:rPr>
              <a:t>•</a:t>
            </a:r>
            <a:endParaRPr lang="en-US" sz="1100" dirty="0"/>
          </a:p>
        </p:txBody>
      </p:sp>
      <p:sp>
        <p:nvSpPr>
          <p:cNvPr id="14" name="Text 10"/>
          <p:cNvSpPr/>
          <p:nvPr/>
        </p:nvSpPr>
        <p:spPr>
          <a:xfrm>
            <a:off x="822960" y="2249424"/>
            <a:ext cx="4754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ADCFC"/>
                </a:solidFill>
              </a:rPr>
              <a:t>Azure Computer Vision API (Enhanced analysis)</a:t>
            </a:r>
            <a:endParaRPr lang="en-US" sz="1050" dirty="0"/>
          </a:p>
        </p:txBody>
      </p:sp>
      <p:sp>
        <p:nvSpPr>
          <p:cNvPr id="15" name="Text 11"/>
          <p:cNvSpPr/>
          <p:nvPr/>
        </p:nvSpPr>
        <p:spPr>
          <a:xfrm>
            <a:off x="640080" y="2496312"/>
            <a:ext cx="137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D9FF"/>
                </a:solidFill>
              </a:rPr>
              <a:t>•</a:t>
            </a:r>
            <a:endParaRPr lang="en-US" sz="1100" dirty="0"/>
          </a:p>
        </p:txBody>
      </p:sp>
      <p:sp>
        <p:nvSpPr>
          <p:cNvPr id="16" name="Text 12"/>
          <p:cNvSpPr/>
          <p:nvPr/>
        </p:nvSpPr>
        <p:spPr>
          <a:xfrm>
            <a:off x="822960" y="2496312"/>
            <a:ext cx="4754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ADCFC"/>
                </a:solidFill>
              </a:rPr>
              <a:t>Azure Application Insights (Monitoring)</a:t>
            </a:r>
            <a:endParaRPr lang="en-US" sz="1050" dirty="0"/>
          </a:p>
        </p:txBody>
      </p:sp>
      <p:sp>
        <p:nvSpPr>
          <p:cNvPr id="17" name="Shape 13"/>
          <p:cNvSpPr/>
          <p:nvPr/>
        </p:nvSpPr>
        <p:spPr>
          <a:xfrm>
            <a:off x="457200" y="3017520"/>
            <a:ext cx="2560320" cy="1097280"/>
          </a:xfrm>
          <a:prstGeom prst="rect">
            <a:avLst/>
          </a:prstGeom>
          <a:solidFill>
            <a:srgbClr val="1E2761"/>
          </a:solidFill>
          <a:ln/>
        </p:spPr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3154680"/>
            <a:ext cx="274320" cy="27432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005840" y="31546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6B35"/>
                </a:solidFill>
              </a:rPr>
              <a:t>DevOps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3520440"/>
            <a:ext cx="137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6B35"/>
                </a:solidFill>
              </a:rPr>
              <a:t>•</a:t>
            </a:r>
            <a:endParaRPr lang="en-US" sz="1100" dirty="0"/>
          </a:p>
        </p:txBody>
      </p:sp>
      <p:sp>
        <p:nvSpPr>
          <p:cNvPr id="21" name="Text 16"/>
          <p:cNvSpPr/>
          <p:nvPr/>
        </p:nvSpPr>
        <p:spPr>
          <a:xfrm>
            <a:off x="822960" y="3520440"/>
            <a:ext cx="2011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ADCFC"/>
                </a:solidFill>
              </a:rPr>
              <a:t>GitHub Actions (CI/CD)</a:t>
            </a:r>
            <a:endParaRPr lang="en-US" sz="1050" dirty="0"/>
          </a:p>
        </p:txBody>
      </p:sp>
      <p:sp>
        <p:nvSpPr>
          <p:cNvPr id="22" name="Text 17"/>
          <p:cNvSpPr/>
          <p:nvPr/>
        </p:nvSpPr>
        <p:spPr>
          <a:xfrm>
            <a:off x="640080" y="3767328"/>
            <a:ext cx="137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6B35"/>
                </a:solidFill>
              </a:rPr>
              <a:t>•</a:t>
            </a:r>
            <a:endParaRPr lang="en-US" sz="1100" dirty="0"/>
          </a:p>
        </p:txBody>
      </p:sp>
      <p:sp>
        <p:nvSpPr>
          <p:cNvPr id="23" name="Text 18"/>
          <p:cNvSpPr/>
          <p:nvPr/>
        </p:nvSpPr>
        <p:spPr>
          <a:xfrm>
            <a:off x="822960" y="3767328"/>
            <a:ext cx="2011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ADCFC"/>
                </a:solidFill>
              </a:rPr>
              <a:t>Docker (Containerization)</a:t>
            </a:r>
            <a:endParaRPr lang="en-US" sz="1050" dirty="0"/>
          </a:p>
        </p:txBody>
      </p:sp>
      <p:sp>
        <p:nvSpPr>
          <p:cNvPr id="24" name="Shape 19"/>
          <p:cNvSpPr/>
          <p:nvPr/>
        </p:nvSpPr>
        <p:spPr>
          <a:xfrm>
            <a:off x="3200400" y="3017520"/>
            <a:ext cx="2743200" cy="1097280"/>
          </a:xfrm>
          <a:prstGeom prst="rect">
            <a:avLst/>
          </a:prstGeom>
          <a:solidFill>
            <a:srgbClr val="1E2761"/>
          </a:solidFill>
          <a:ln/>
        </p:spPr>
      </p:sp>
      <p:pic>
        <p:nvPicPr>
          <p:cNvPr id="2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83280" y="3154680"/>
            <a:ext cx="274320" cy="274320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3749040" y="315468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D9FF"/>
                </a:solidFill>
              </a:rPr>
              <a:t>Business Intelligence</a:t>
            </a:r>
            <a:endParaRPr lang="en-US" sz="1400" dirty="0"/>
          </a:p>
        </p:txBody>
      </p:sp>
      <p:sp>
        <p:nvSpPr>
          <p:cNvPr id="27" name="Text 21"/>
          <p:cNvSpPr/>
          <p:nvPr/>
        </p:nvSpPr>
        <p:spPr>
          <a:xfrm>
            <a:off x="3383280" y="3520440"/>
            <a:ext cx="137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D9FF"/>
                </a:solidFill>
              </a:rPr>
              <a:t>•</a:t>
            </a:r>
            <a:endParaRPr lang="en-US" sz="1100" dirty="0"/>
          </a:p>
        </p:txBody>
      </p:sp>
      <p:sp>
        <p:nvSpPr>
          <p:cNvPr id="28" name="Text 22"/>
          <p:cNvSpPr/>
          <p:nvPr/>
        </p:nvSpPr>
        <p:spPr>
          <a:xfrm>
            <a:off x="3566160" y="3520440"/>
            <a:ext cx="21945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ADCFC"/>
                </a:solidFill>
              </a:rPr>
              <a:t>Power BI (Dashboard)</a:t>
            </a:r>
            <a:endParaRPr lang="en-US" sz="1050" dirty="0"/>
          </a:p>
        </p:txBody>
      </p:sp>
      <p:sp>
        <p:nvSpPr>
          <p:cNvPr id="29" name="Text 23"/>
          <p:cNvSpPr/>
          <p:nvPr/>
        </p:nvSpPr>
        <p:spPr>
          <a:xfrm>
            <a:off x="3383280" y="3767328"/>
            <a:ext cx="137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D9FF"/>
                </a:solidFill>
              </a:rPr>
              <a:t>•</a:t>
            </a:r>
            <a:endParaRPr lang="en-US" sz="1100" dirty="0"/>
          </a:p>
        </p:txBody>
      </p:sp>
      <p:sp>
        <p:nvSpPr>
          <p:cNvPr id="30" name="Text 24"/>
          <p:cNvSpPr/>
          <p:nvPr/>
        </p:nvSpPr>
        <p:spPr>
          <a:xfrm>
            <a:off x="3566160" y="3767328"/>
            <a:ext cx="21945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ADCFC"/>
                </a:solidFill>
              </a:rPr>
              <a:t>DAX (Custom metrics)</a:t>
            </a:r>
            <a:endParaRPr lang="en-US" sz="1050" dirty="0"/>
          </a:p>
        </p:txBody>
      </p:sp>
      <p:sp>
        <p:nvSpPr>
          <p:cNvPr id="31" name="Shape 25"/>
          <p:cNvSpPr/>
          <p:nvPr/>
        </p:nvSpPr>
        <p:spPr>
          <a:xfrm>
            <a:off x="6126480" y="1005840"/>
            <a:ext cx="2560320" cy="3108960"/>
          </a:xfrm>
          <a:prstGeom prst="rect">
            <a:avLst/>
          </a:prstGeom>
          <a:solidFill>
            <a:srgbClr val="1E2761"/>
          </a:solidFill>
          <a:ln/>
        </p:spPr>
      </p:sp>
      <p:pic>
        <p:nvPicPr>
          <p:cNvPr id="32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58000" y="1645920"/>
            <a:ext cx="1097280" cy="1097280"/>
          </a:xfrm>
          <a:prstGeom prst="rect">
            <a:avLst/>
          </a:prstGeom>
        </p:spPr>
      </p:pic>
      <p:sp>
        <p:nvSpPr>
          <p:cNvPr id="33" name="Text 26"/>
          <p:cNvSpPr/>
          <p:nvPr/>
        </p:nvSpPr>
        <p:spPr>
          <a:xfrm>
            <a:off x="6309360" y="292608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0D9FF"/>
                </a:solidFill>
              </a:rPr>
              <a:t>Azure Cloud</a:t>
            </a:r>
            <a:endParaRPr lang="en-US" sz="1600" dirty="0"/>
          </a:p>
        </p:txBody>
      </p:sp>
      <p:sp>
        <p:nvSpPr>
          <p:cNvPr id="34" name="Text 27"/>
          <p:cNvSpPr/>
          <p:nvPr/>
        </p:nvSpPr>
        <p:spPr>
          <a:xfrm>
            <a:off x="6309360" y="329184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CADCFC"/>
                </a:solidFill>
              </a:rPr>
              <a:t>Scalable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CADCFC"/>
                </a:solidFill>
              </a:rPr>
              <a:t>Secure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CADCFC"/>
                </a:solidFill>
              </a:rPr>
              <a:t>Reliable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prism isContent="1" isInverted="1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2D3E6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20040"/>
            <a:ext cx="365760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36576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Datasets for Training</a:t>
            </a:r>
            <a:endParaRPr lang="en-US" sz="3600" dirty="0"/>
          </a:p>
        </p:txBody>
      </p:sp>
      <p:sp>
        <p:nvSpPr>
          <p:cNvPr id="4" name="Shape 1"/>
          <p:cNvSpPr/>
          <p:nvPr/>
        </p:nvSpPr>
        <p:spPr>
          <a:xfrm>
            <a:off x="457200" y="1097280"/>
            <a:ext cx="8229600" cy="1051560"/>
          </a:xfrm>
          <a:prstGeom prst="rect">
            <a:avLst/>
          </a:prstGeom>
          <a:solidFill>
            <a:srgbClr val="3D4E76"/>
          </a:solidFill>
          <a:ln/>
        </p:spPr>
      </p:sp>
      <p:sp>
        <p:nvSpPr>
          <p:cNvPr id="5" name="Shape 2"/>
          <p:cNvSpPr/>
          <p:nvPr/>
        </p:nvSpPr>
        <p:spPr>
          <a:xfrm>
            <a:off x="457200" y="1097280"/>
            <a:ext cx="73152" cy="1051560"/>
          </a:xfrm>
          <a:prstGeom prst="rect">
            <a:avLst/>
          </a:prstGeom>
          <a:solidFill>
            <a:srgbClr val="00D9FF"/>
          </a:solidFill>
          <a:ln/>
        </p:spPr>
      </p:sp>
      <p:sp>
        <p:nvSpPr>
          <p:cNvPr id="6" name="Text 3"/>
          <p:cNvSpPr/>
          <p:nvPr/>
        </p:nvSpPr>
        <p:spPr>
          <a:xfrm>
            <a:off x="685800" y="118872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</a:rPr>
              <a:t>UCF-Crime Dataset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822960" y="1508760"/>
            <a:ext cx="137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D9FF"/>
                </a:solidFill>
              </a:rPr>
              <a:t>•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1005840" y="1508760"/>
            <a:ext cx="7498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ADCFC"/>
                </a:solidFill>
              </a:rPr>
              <a:t>128 hours of surveillance footage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22960" y="1719072"/>
            <a:ext cx="137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D9FF"/>
                </a:solidFill>
              </a:rPr>
              <a:t>•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1005840" y="1719072"/>
            <a:ext cx="7498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ADCFC"/>
                </a:solidFill>
              </a:rPr>
              <a:t>1,900 videos with 13 anomaly types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822960" y="1929384"/>
            <a:ext cx="137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D9FF"/>
                </a:solidFill>
              </a:rPr>
              <a:t>•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1005840" y="1929384"/>
            <a:ext cx="7498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ADCFC"/>
                </a:solidFill>
              </a:rPr>
              <a:t>Use: Anomaly detection training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57200" y="2240280"/>
            <a:ext cx="8229600" cy="1051560"/>
          </a:xfrm>
          <a:prstGeom prst="rect">
            <a:avLst/>
          </a:prstGeom>
          <a:solidFill>
            <a:srgbClr val="3D4E76"/>
          </a:solidFill>
          <a:ln/>
        </p:spPr>
      </p:sp>
      <p:sp>
        <p:nvSpPr>
          <p:cNvPr id="14" name="Shape 11"/>
          <p:cNvSpPr/>
          <p:nvPr/>
        </p:nvSpPr>
        <p:spPr>
          <a:xfrm>
            <a:off x="457200" y="2240280"/>
            <a:ext cx="73152" cy="1051560"/>
          </a:xfrm>
          <a:prstGeom prst="rect">
            <a:avLst/>
          </a:prstGeom>
          <a:solidFill>
            <a:srgbClr val="00D9FF"/>
          </a:solidFill>
          <a:ln/>
        </p:spPr>
      </p:sp>
      <p:sp>
        <p:nvSpPr>
          <p:cNvPr id="15" name="Text 12"/>
          <p:cNvSpPr/>
          <p:nvPr/>
        </p:nvSpPr>
        <p:spPr>
          <a:xfrm>
            <a:off x="685800" y="233172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</a:rPr>
              <a:t>xView Satellite Dataset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822960" y="2651760"/>
            <a:ext cx="137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D9FF"/>
                </a:solidFill>
              </a:rPr>
              <a:t>•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1005840" y="2651760"/>
            <a:ext cx="7498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ADCFC"/>
                </a:solidFill>
              </a:rPr>
              <a:t>1 million+ annotated objects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822960" y="2862072"/>
            <a:ext cx="137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D9FF"/>
                </a:solidFill>
              </a:rPr>
              <a:t>•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1005840" y="2862072"/>
            <a:ext cx="7498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ADCFC"/>
                </a:solidFill>
              </a:rPr>
              <a:t>0.3m resolution satellite imagery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822960" y="3072384"/>
            <a:ext cx="137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D9FF"/>
                </a:solidFill>
              </a:rPr>
              <a:t>•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1005840" y="3072384"/>
            <a:ext cx="7498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ADCFC"/>
                </a:solidFill>
              </a:rPr>
              <a:t>Use: Object detection training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457200" y="3383280"/>
            <a:ext cx="8229600" cy="1051560"/>
          </a:xfrm>
          <a:prstGeom prst="rect">
            <a:avLst/>
          </a:prstGeom>
          <a:solidFill>
            <a:srgbClr val="3D4E76"/>
          </a:solidFill>
          <a:ln/>
        </p:spPr>
      </p:sp>
      <p:sp>
        <p:nvSpPr>
          <p:cNvPr id="23" name="Shape 20"/>
          <p:cNvSpPr/>
          <p:nvPr/>
        </p:nvSpPr>
        <p:spPr>
          <a:xfrm>
            <a:off x="457200" y="3383280"/>
            <a:ext cx="73152" cy="1051560"/>
          </a:xfrm>
          <a:prstGeom prst="rect">
            <a:avLst/>
          </a:prstGeom>
          <a:solidFill>
            <a:srgbClr val="00D9FF"/>
          </a:solidFill>
          <a:ln/>
        </p:spPr>
      </p:sp>
      <p:sp>
        <p:nvSpPr>
          <p:cNvPr id="24" name="Text 21"/>
          <p:cNvSpPr/>
          <p:nvPr/>
        </p:nvSpPr>
        <p:spPr>
          <a:xfrm>
            <a:off x="685800" y="347472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</a:rPr>
              <a:t>DOTA (Aerial Images)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822960" y="3794760"/>
            <a:ext cx="137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D9FF"/>
                </a:solidFill>
              </a:rPr>
              <a:t>•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1005840" y="3794760"/>
            <a:ext cx="7498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ADCFC"/>
                </a:solidFill>
              </a:rPr>
              <a:t>280,000 annotated objects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822960" y="4005072"/>
            <a:ext cx="137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D9FF"/>
                </a:solidFill>
              </a:rPr>
              <a:t>•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1005840" y="4005072"/>
            <a:ext cx="7498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ADCFC"/>
                </a:solidFill>
              </a:rPr>
              <a:t>15 object categories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822960" y="4215384"/>
            <a:ext cx="137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D9FF"/>
                </a:solidFill>
              </a:rPr>
              <a:t>•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1005840" y="4215384"/>
            <a:ext cx="7498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ADCFC"/>
                </a:solidFill>
              </a:rPr>
              <a:t>Use: Vehicle/infrastructure detection</a:t>
            </a:r>
            <a:endParaRPr lang="en-US" sz="1100" dirty="0"/>
          </a:p>
        </p:txBody>
      </p:sp>
    </p:spTree>
  </p:cSld>
  <p:clrMapOvr>
    <a:masterClrMapping/>
  </p:clrMapOvr>
  <p:transition spd="slow">
    <p:randomBar dir="vert"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2D3E6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20040"/>
            <a:ext cx="365760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36576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Timeline (Weeks 1-4)</a:t>
            </a:r>
            <a:endParaRPr lang="en-US" sz="3600" dirty="0"/>
          </a:p>
        </p:txBody>
      </p:sp>
      <p:sp>
        <p:nvSpPr>
          <p:cNvPr id="4" name="Shape 1"/>
          <p:cNvSpPr/>
          <p:nvPr/>
        </p:nvSpPr>
        <p:spPr>
          <a:xfrm>
            <a:off x="457200" y="1188720"/>
            <a:ext cx="8229600" cy="1371600"/>
          </a:xfrm>
          <a:prstGeom prst="rect">
            <a:avLst/>
          </a:prstGeom>
          <a:solidFill>
            <a:srgbClr val="3D4E76"/>
          </a:solidFill>
          <a:ln/>
        </p:spPr>
      </p:sp>
      <p:sp>
        <p:nvSpPr>
          <p:cNvPr id="5" name="Text 2"/>
          <p:cNvSpPr/>
          <p:nvPr/>
        </p:nvSpPr>
        <p:spPr>
          <a:xfrm>
            <a:off x="640080" y="123444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D9FF"/>
                </a:solidFill>
              </a:rPr>
              <a:t>Week 1-2: Foundation &amp; Dataset Preparation</a:t>
            </a:r>
            <a:endParaRPr lang="en-US" sz="180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1554480"/>
            <a:ext cx="228600" cy="22860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051560" y="1600200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Download UCF-Crime and xView datasets</a:t>
            </a:r>
            <a:endParaRPr lang="en-US" sz="1200" dirty="0"/>
          </a:p>
        </p:txBody>
      </p:sp>
      <p:pic>
        <p:nvPicPr>
          <p:cNvPr id="8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1810512"/>
            <a:ext cx="228600" cy="228600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1051560" y="1856232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Perform EDA on surveillance videos</a:t>
            </a:r>
            <a:endParaRPr lang="en-US" sz="1200" dirty="0"/>
          </a:p>
        </p:txBody>
      </p:sp>
      <p:pic>
        <p:nvPicPr>
          <p:cNvPr id="10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2066544"/>
            <a:ext cx="228600" cy="228600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1051560" y="2112264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Setup Python environment and Azure account</a:t>
            </a:r>
            <a:endParaRPr lang="en-US" sz="1200" dirty="0"/>
          </a:p>
        </p:txBody>
      </p:sp>
      <p:pic>
        <p:nvPicPr>
          <p:cNvPr id="12" name="Image 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2322576"/>
            <a:ext cx="228600" cy="228600"/>
          </a:xfrm>
          <a:prstGeom prst="rect">
            <a:avLst/>
          </a:prstGeom>
        </p:spPr>
      </p:pic>
      <p:sp>
        <p:nvSpPr>
          <p:cNvPr id="13" name="Text 6"/>
          <p:cNvSpPr/>
          <p:nvPr/>
        </p:nvSpPr>
        <p:spPr>
          <a:xfrm>
            <a:off x="1051560" y="2368296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Document findings in Jupyter notebooks</a:t>
            </a:r>
            <a:endParaRPr lang="en-US" sz="1200" dirty="0"/>
          </a:p>
        </p:txBody>
      </p:sp>
      <p:sp>
        <p:nvSpPr>
          <p:cNvPr id="14" name="Shape 7"/>
          <p:cNvSpPr/>
          <p:nvPr/>
        </p:nvSpPr>
        <p:spPr>
          <a:xfrm>
            <a:off x="457200" y="2788920"/>
            <a:ext cx="8229600" cy="1371600"/>
          </a:xfrm>
          <a:prstGeom prst="rect">
            <a:avLst/>
          </a:prstGeom>
          <a:solidFill>
            <a:srgbClr val="3D4E76"/>
          </a:solidFill>
          <a:ln/>
        </p:spPr>
      </p:sp>
      <p:sp>
        <p:nvSpPr>
          <p:cNvPr id="15" name="Text 8"/>
          <p:cNvSpPr/>
          <p:nvPr/>
        </p:nvSpPr>
        <p:spPr>
          <a:xfrm>
            <a:off x="640080" y="278892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6B35"/>
                </a:solidFill>
              </a:rPr>
              <a:t>Week 3-4: Object Detection Development</a:t>
            </a:r>
            <a:endParaRPr lang="en-US" sz="1800" dirty="0"/>
          </a:p>
        </p:txBody>
      </p:sp>
      <p:pic>
        <p:nvPicPr>
          <p:cNvPr id="16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3108960"/>
            <a:ext cx="228600" cy="228600"/>
          </a:xfrm>
          <a:prstGeom prst="rect">
            <a:avLst/>
          </a:prstGeom>
        </p:spPr>
      </p:pic>
      <p:sp>
        <p:nvSpPr>
          <p:cNvPr id="17" name="Text 9"/>
          <p:cNvSpPr/>
          <p:nvPr/>
        </p:nvSpPr>
        <p:spPr>
          <a:xfrm>
            <a:off x="1051560" y="3154680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Train YOLOv8 model on border surveillance data</a:t>
            </a:r>
            <a:endParaRPr lang="en-US" sz="1200" dirty="0"/>
          </a:p>
        </p:txBody>
      </p:sp>
      <p:pic>
        <p:nvPicPr>
          <p:cNvPr id="18" name="Image 6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3364992"/>
            <a:ext cx="228600" cy="228600"/>
          </a:xfrm>
          <a:prstGeom prst="rect">
            <a:avLst/>
          </a:prstGeom>
        </p:spPr>
      </p:pic>
      <p:sp>
        <p:nvSpPr>
          <p:cNvPr id="19" name="Text 10"/>
          <p:cNvSpPr/>
          <p:nvPr/>
        </p:nvSpPr>
        <p:spPr>
          <a:xfrm>
            <a:off x="1051560" y="3410712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Fine-tune with custom annotations (Roboflow)</a:t>
            </a:r>
            <a:endParaRPr lang="en-US" sz="1200" dirty="0"/>
          </a:p>
        </p:txBody>
      </p:sp>
      <p:pic>
        <p:nvPicPr>
          <p:cNvPr id="20" name="Image 7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3621024"/>
            <a:ext cx="228600" cy="228600"/>
          </a:xfrm>
          <a:prstGeom prst="rect">
            <a:avLst/>
          </a:prstGeom>
        </p:spPr>
      </p:pic>
      <p:sp>
        <p:nvSpPr>
          <p:cNvPr id="21" name="Text 11"/>
          <p:cNvSpPr/>
          <p:nvPr/>
        </p:nvSpPr>
        <p:spPr>
          <a:xfrm>
            <a:off x="1051560" y="3666744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Achieve &gt;90% detection accuracy</a:t>
            </a:r>
            <a:endParaRPr lang="en-US" sz="1200" dirty="0"/>
          </a:p>
        </p:txBody>
      </p:sp>
      <p:pic>
        <p:nvPicPr>
          <p:cNvPr id="22" name="Image 8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3877056"/>
            <a:ext cx="228600" cy="228600"/>
          </a:xfrm>
          <a:prstGeom prst="rect">
            <a:avLst/>
          </a:prstGeom>
        </p:spPr>
      </p:pic>
      <p:sp>
        <p:nvSpPr>
          <p:cNvPr id="23" name="Text 12"/>
          <p:cNvSpPr/>
          <p:nvPr/>
        </p:nvSpPr>
        <p:spPr>
          <a:xfrm>
            <a:off x="1051560" y="3922776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Evaluate model performance (precision, recall)</a:t>
            </a:r>
            <a:endParaRPr lang="en-US" sz="1200" dirty="0"/>
          </a:p>
        </p:txBody>
      </p:sp>
    </p:spTree>
  </p:cSld>
  <p:clrMapOvr>
    <a:masterClrMapping/>
  </p:clrMapOvr>
  <p:transition spd="slow">
    <p:wheel spokes="1"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2D3E6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20040"/>
            <a:ext cx="365760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36576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Timeline (Weeks 5-8)</a:t>
            </a:r>
            <a:endParaRPr lang="en-US" sz="3600" dirty="0"/>
          </a:p>
        </p:txBody>
      </p:sp>
      <p:sp>
        <p:nvSpPr>
          <p:cNvPr id="4" name="Shape 1"/>
          <p:cNvSpPr/>
          <p:nvPr/>
        </p:nvSpPr>
        <p:spPr>
          <a:xfrm>
            <a:off x="457200" y="1211580"/>
            <a:ext cx="8229600" cy="1371600"/>
          </a:xfrm>
          <a:prstGeom prst="rect">
            <a:avLst/>
          </a:prstGeom>
          <a:solidFill>
            <a:srgbClr val="3D4E76"/>
          </a:solidFill>
          <a:ln/>
        </p:spPr>
      </p:sp>
      <p:sp>
        <p:nvSpPr>
          <p:cNvPr id="5" name="Text 2"/>
          <p:cNvSpPr/>
          <p:nvPr/>
        </p:nvSpPr>
        <p:spPr>
          <a:xfrm>
            <a:off x="640080" y="123444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D9FF"/>
                </a:solidFill>
              </a:rPr>
              <a:t>Week 5-6: Anomaly Detection System</a:t>
            </a:r>
            <a:endParaRPr lang="en-US" sz="180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1554480"/>
            <a:ext cx="228600" cy="22860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051560" y="1600200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Extract features (optical flow, spatial patterns)</a:t>
            </a:r>
            <a:endParaRPr lang="en-US" sz="1200" dirty="0"/>
          </a:p>
        </p:txBody>
      </p:sp>
      <p:pic>
        <p:nvPicPr>
          <p:cNvPr id="8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1810512"/>
            <a:ext cx="228600" cy="228600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1051560" y="1856232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Train ensemble models (Isolation Forest + Random Forest)</a:t>
            </a:r>
            <a:endParaRPr lang="en-US" sz="1200" dirty="0"/>
          </a:p>
        </p:txBody>
      </p:sp>
      <p:pic>
        <p:nvPicPr>
          <p:cNvPr id="10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2066544"/>
            <a:ext cx="228600" cy="228600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1051560" y="2112264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Implement alert prioritization logic</a:t>
            </a:r>
            <a:endParaRPr lang="en-US" sz="1200" dirty="0"/>
          </a:p>
        </p:txBody>
      </p:sp>
      <p:pic>
        <p:nvPicPr>
          <p:cNvPr id="12" name="Image 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2322576"/>
            <a:ext cx="228600" cy="228600"/>
          </a:xfrm>
          <a:prstGeom prst="rect">
            <a:avLst/>
          </a:prstGeom>
        </p:spPr>
      </p:pic>
      <p:sp>
        <p:nvSpPr>
          <p:cNvPr id="13" name="Text 6"/>
          <p:cNvSpPr/>
          <p:nvPr/>
        </p:nvSpPr>
        <p:spPr>
          <a:xfrm>
            <a:off x="1051560" y="2368296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Test on validation dataset</a:t>
            </a:r>
            <a:endParaRPr lang="en-US" sz="1200" dirty="0"/>
          </a:p>
        </p:txBody>
      </p:sp>
      <p:sp>
        <p:nvSpPr>
          <p:cNvPr id="14" name="Shape 7"/>
          <p:cNvSpPr/>
          <p:nvPr/>
        </p:nvSpPr>
        <p:spPr>
          <a:xfrm>
            <a:off x="501445" y="2793492"/>
            <a:ext cx="8229600" cy="1371600"/>
          </a:xfrm>
          <a:prstGeom prst="rect">
            <a:avLst/>
          </a:prstGeom>
          <a:solidFill>
            <a:srgbClr val="3D4E76"/>
          </a:solidFill>
          <a:ln/>
        </p:spPr>
      </p:sp>
      <p:sp>
        <p:nvSpPr>
          <p:cNvPr id="15" name="Text 8"/>
          <p:cNvSpPr/>
          <p:nvPr/>
        </p:nvSpPr>
        <p:spPr>
          <a:xfrm>
            <a:off x="640080" y="278892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6B35"/>
                </a:solidFill>
              </a:rPr>
              <a:t>Week 7-8: Azure Cloud Integration</a:t>
            </a:r>
            <a:endParaRPr lang="en-US" sz="1800" dirty="0"/>
          </a:p>
        </p:txBody>
      </p:sp>
      <p:pic>
        <p:nvPicPr>
          <p:cNvPr id="16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3108960"/>
            <a:ext cx="228600" cy="228600"/>
          </a:xfrm>
          <a:prstGeom prst="rect">
            <a:avLst/>
          </a:prstGeom>
        </p:spPr>
      </p:pic>
      <p:sp>
        <p:nvSpPr>
          <p:cNvPr id="17" name="Text 9"/>
          <p:cNvSpPr/>
          <p:nvPr/>
        </p:nvSpPr>
        <p:spPr>
          <a:xfrm>
            <a:off x="1051560" y="3154680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Deploy models to Azure Functions</a:t>
            </a:r>
            <a:endParaRPr lang="en-US" sz="1200" dirty="0"/>
          </a:p>
        </p:txBody>
      </p:sp>
      <p:pic>
        <p:nvPicPr>
          <p:cNvPr id="18" name="Image 6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3364992"/>
            <a:ext cx="228600" cy="228600"/>
          </a:xfrm>
          <a:prstGeom prst="rect">
            <a:avLst/>
          </a:prstGeom>
        </p:spPr>
      </p:pic>
      <p:sp>
        <p:nvSpPr>
          <p:cNvPr id="19" name="Text 10"/>
          <p:cNvSpPr/>
          <p:nvPr/>
        </p:nvSpPr>
        <p:spPr>
          <a:xfrm>
            <a:off x="1051560" y="3410712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Setup Blob Storage for video/frame storage</a:t>
            </a:r>
            <a:endParaRPr lang="en-US" sz="1200" dirty="0"/>
          </a:p>
        </p:txBody>
      </p:sp>
      <p:pic>
        <p:nvPicPr>
          <p:cNvPr id="20" name="Image 7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3621024"/>
            <a:ext cx="228600" cy="228600"/>
          </a:xfrm>
          <a:prstGeom prst="rect">
            <a:avLst/>
          </a:prstGeom>
        </p:spPr>
      </p:pic>
      <p:sp>
        <p:nvSpPr>
          <p:cNvPr id="21" name="Text 11"/>
          <p:cNvSpPr/>
          <p:nvPr/>
        </p:nvSpPr>
        <p:spPr>
          <a:xfrm>
            <a:off x="1051560" y="3666744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Configure Cosmos DB for alert logs</a:t>
            </a:r>
            <a:endParaRPr lang="en-US" sz="1200" dirty="0"/>
          </a:p>
        </p:txBody>
      </p:sp>
      <p:pic>
        <p:nvPicPr>
          <p:cNvPr id="22" name="Image 8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3877056"/>
            <a:ext cx="228600" cy="228600"/>
          </a:xfrm>
          <a:prstGeom prst="rect">
            <a:avLst/>
          </a:prstGeom>
        </p:spPr>
      </p:pic>
      <p:sp>
        <p:nvSpPr>
          <p:cNvPr id="23" name="Text 12"/>
          <p:cNvSpPr/>
          <p:nvPr/>
        </p:nvSpPr>
        <p:spPr>
          <a:xfrm>
            <a:off x="1051560" y="3922776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Build CI/CD pipeline with GitHub Actions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:dissolve/>
      </p:transition>
    </mc:Choice>
    <mc:Fallback xmlns="">
      <p:transition spd="slow">
        <p:dissolv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2D3E6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20040"/>
            <a:ext cx="365760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36576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Timeline (Weeks 9-12)</a:t>
            </a:r>
            <a:endParaRPr lang="en-US" sz="3600" dirty="0"/>
          </a:p>
        </p:txBody>
      </p:sp>
      <p:sp>
        <p:nvSpPr>
          <p:cNvPr id="4" name="Shape 1"/>
          <p:cNvSpPr/>
          <p:nvPr/>
        </p:nvSpPr>
        <p:spPr>
          <a:xfrm>
            <a:off x="457200" y="1207008"/>
            <a:ext cx="8229600" cy="1371600"/>
          </a:xfrm>
          <a:prstGeom prst="rect">
            <a:avLst/>
          </a:prstGeom>
          <a:solidFill>
            <a:srgbClr val="3D4E76"/>
          </a:solidFill>
          <a:ln/>
        </p:spPr>
      </p:sp>
      <p:sp>
        <p:nvSpPr>
          <p:cNvPr id="5" name="Text 2"/>
          <p:cNvSpPr/>
          <p:nvPr/>
        </p:nvSpPr>
        <p:spPr>
          <a:xfrm>
            <a:off x="640080" y="123444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D9FF"/>
                </a:solidFill>
              </a:rPr>
              <a:t>Week 9-10: Dashboard &amp; Visualization</a:t>
            </a:r>
            <a:endParaRPr lang="en-US" sz="180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1554480"/>
            <a:ext cx="228600" cy="22860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051560" y="1600200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Build Power BI dashboard (real-time alerts, heatmaps)</a:t>
            </a:r>
            <a:endParaRPr lang="en-US" sz="1200" dirty="0"/>
          </a:p>
        </p:txBody>
      </p:sp>
      <p:pic>
        <p:nvPicPr>
          <p:cNvPr id="8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1810512"/>
            <a:ext cx="228600" cy="228600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1051560" y="1856232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Create Streamlit web app (alternative)</a:t>
            </a:r>
            <a:endParaRPr lang="en-US" sz="1200" dirty="0"/>
          </a:p>
        </p:txBody>
      </p:sp>
      <p:pic>
        <p:nvPicPr>
          <p:cNvPr id="10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2066544"/>
            <a:ext cx="228600" cy="228600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1051560" y="2112264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Implement email/SMS notification system</a:t>
            </a:r>
            <a:endParaRPr lang="en-US" sz="1200" dirty="0"/>
          </a:p>
        </p:txBody>
      </p:sp>
      <p:pic>
        <p:nvPicPr>
          <p:cNvPr id="12" name="Image 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2322576"/>
            <a:ext cx="228600" cy="228600"/>
          </a:xfrm>
          <a:prstGeom prst="rect">
            <a:avLst/>
          </a:prstGeom>
        </p:spPr>
      </p:pic>
      <p:sp>
        <p:nvSpPr>
          <p:cNvPr id="13" name="Text 6"/>
          <p:cNvSpPr/>
          <p:nvPr/>
        </p:nvSpPr>
        <p:spPr>
          <a:xfrm>
            <a:off x="1051560" y="2368296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Test end-to-end alert flow</a:t>
            </a:r>
            <a:endParaRPr lang="en-US" sz="1200" dirty="0"/>
          </a:p>
        </p:txBody>
      </p:sp>
      <p:sp>
        <p:nvSpPr>
          <p:cNvPr id="14" name="Shape 7"/>
          <p:cNvSpPr/>
          <p:nvPr/>
        </p:nvSpPr>
        <p:spPr>
          <a:xfrm>
            <a:off x="457200" y="2784348"/>
            <a:ext cx="8229600" cy="1371600"/>
          </a:xfrm>
          <a:prstGeom prst="rect">
            <a:avLst/>
          </a:prstGeom>
          <a:solidFill>
            <a:srgbClr val="3D4E76"/>
          </a:solidFill>
          <a:ln/>
        </p:spPr>
      </p:sp>
      <p:sp>
        <p:nvSpPr>
          <p:cNvPr id="15" name="Text 8"/>
          <p:cNvSpPr/>
          <p:nvPr/>
        </p:nvSpPr>
        <p:spPr>
          <a:xfrm>
            <a:off x="640080" y="278892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6B35"/>
                </a:solidFill>
              </a:rPr>
              <a:t>Week 11-12: Testing &amp; Documentation</a:t>
            </a:r>
            <a:endParaRPr lang="en-US" sz="1800" dirty="0"/>
          </a:p>
        </p:txBody>
      </p:sp>
      <p:pic>
        <p:nvPicPr>
          <p:cNvPr id="16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3108960"/>
            <a:ext cx="228600" cy="228600"/>
          </a:xfrm>
          <a:prstGeom prst="rect">
            <a:avLst/>
          </a:prstGeom>
        </p:spPr>
      </p:pic>
      <p:sp>
        <p:nvSpPr>
          <p:cNvPr id="17" name="Text 9"/>
          <p:cNvSpPr/>
          <p:nvPr/>
        </p:nvSpPr>
        <p:spPr>
          <a:xfrm>
            <a:off x="1051560" y="3154680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System testing (various scenarios, stress test)</a:t>
            </a:r>
            <a:endParaRPr lang="en-US" sz="1200" dirty="0"/>
          </a:p>
        </p:txBody>
      </p:sp>
      <p:pic>
        <p:nvPicPr>
          <p:cNvPr id="18" name="Image 6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3364992"/>
            <a:ext cx="228600" cy="228600"/>
          </a:xfrm>
          <a:prstGeom prst="rect">
            <a:avLst/>
          </a:prstGeom>
        </p:spPr>
      </p:pic>
      <p:sp>
        <p:nvSpPr>
          <p:cNvPr id="19" name="Text 10"/>
          <p:cNvSpPr/>
          <p:nvPr/>
        </p:nvSpPr>
        <p:spPr>
          <a:xfrm>
            <a:off x="1051560" y="3410712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Complete GitHub repository (clean code, README)</a:t>
            </a:r>
            <a:endParaRPr lang="en-US" sz="1200" dirty="0"/>
          </a:p>
        </p:txBody>
      </p:sp>
      <p:pic>
        <p:nvPicPr>
          <p:cNvPr id="20" name="Image 7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3621024"/>
            <a:ext cx="228600" cy="228600"/>
          </a:xfrm>
          <a:prstGeom prst="rect">
            <a:avLst/>
          </a:prstGeom>
        </p:spPr>
      </p:pic>
      <p:sp>
        <p:nvSpPr>
          <p:cNvPr id="21" name="Text 11"/>
          <p:cNvSpPr/>
          <p:nvPr/>
        </p:nvSpPr>
        <p:spPr>
          <a:xfrm>
            <a:off x="1051560" y="3666744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Write project report (15-20 pages)</a:t>
            </a:r>
            <a:endParaRPr lang="en-US" sz="1200" dirty="0"/>
          </a:p>
        </p:txBody>
      </p:sp>
      <p:pic>
        <p:nvPicPr>
          <p:cNvPr id="22" name="Image 8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3877056"/>
            <a:ext cx="228600" cy="228600"/>
          </a:xfrm>
          <a:prstGeom prst="rect">
            <a:avLst/>
          </a:prstGeom>
        </p:spPr>
      </p:pic>
      <p:sp>
        <p:nvSpPr>
          <p:cNvPr id="23" name="Text 12"/>
          <p:cNvSpPr/>
          <p:nvPr/>
        </p:nvSpPr>
        <p:spPr>
          <a:xfrm>
            <a:off x="1051560" y="3922776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Prepare demo video and presentation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2D3E6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Deliverables &amp; Success Metrics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3931920" cy="1965960"/>
          </a:xfrm>
          <a:prstGeom prst="rect">
            <a:avLst/>
          </a:prstGeom>
          <a:solidFill>
            <a:srgbClr val="3D4E76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14300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D9FF"/>
                </a:solidFill>
              </a:rPr>
              <a:t>Deliverables</a:t>
            </a:r>
            <a:endParaRPr lang="en-US" sz="18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463040"/>
            <a:ext cx="182880" cy="1828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05840" y="1508760"/>
            <a:ext cx="3200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ADCFC"/>
                </a:solidFill>
              </a:rPr>
              <a:t>Trained YOLOv8 model (object detection)</a:t>
            </a:r>
            <a:endParaRPr lang="en-US" sz="110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709928"/>
            <a:ext cx="182880" cy="18288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005840" y="1755648"/>
            <a:ext cx="3200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ADCFC"/>
                </a:solidFill>
              </a:rPr>
              <a:t>Ensemble anomaly detection model</a:t>
            </a:r>
            <a:endParaRPr lang="en-US" sz="110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956816"/>
            <a:ext cx="182880" cy="18288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005840" y="2002536"/>
            <a:ext cx="3200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ADCFC"/>
                </a:solidFill>
              </a:rPr>
              <a:t>Azure-deployed cloud system</a:t>
            </a:r>
            <a:endParaRPr lang="en-US" sz="1100" dirty="0"/>
          </a:p>
        </p:txBody>
      </p:sp>
      <p:pic>
        <p:nvPicPr>
          <p:cNvPr id="11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203704"/>
            <a:ext cx="182880" cy="182880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1005840" y="2249424"/>
            <a:ext cx="3200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ADCFC"/>
                </a:solidFill>
              </a:rPr>
              <a:t>Power BI real-time dashboard</a:t>
            </a:r>
            <a:endParaRPr lang="en-US" sz="1100" dirty="0"/>
          </a:p>
        </p:txBody>
      </p:sp>
      <p:pic>
        <p:nvPicPr>
          <p:cNvPr id="13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450592"/>
            <a:ext cx="182880" cy="182880"/>
          </a:xfrm>
          <a:prstGeom prst="rect">
            <a:avLst/>
          </a:prstGeom>
        </p:spPr>
      </p:pic>
      <p:sp>
        <p:nvSpPr>
          <p:cNvPr id="14" name="Text 7"/>
          <p:cNvSpPr/>
          <p:nvPr/>
        </p:nvSpPr>
        <p:spPr>
          <a:xfrm>
            <a:off x="1005840" y="2496312"/>
            <a:ext cx="3200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ADCFC"/>
                </a:solidFill>
              </a:rPr>
              <a:t>Complete GitHub repository</a:t>
            </a:r>
            <a:endParaRPr lang="en-US" sz="1100" dirty="0"/>
          </a:p>
        </p:txBody>
      </p:sp>
      <p:pic>
        <p:nvPicPr>
          <p:cNvPr id="15" name="Image 5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697480"/>
            <a:ext cx="182880" cy="182880"/>
          </a:xfrm>
          <a:prstGeom prst="rect">
            <a:avLst/>
          </a:prstGeom>
        </p:spPr>
      </p:pic>
      <p:sp>
        <p:nvSpPr>
          <p:cNvPr id="16" name="Text 8"/>
          <p:cNvSpPr/>
          <p:nvPr/>
        </p:nvSpPr>
        <p:spPr>
          <a:xfrm>
            <a:off x="1005840" y="2743200"/>
            <a:ext cx="3200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ADCFC"/>
                </a:solidFill>
              </a:rPr>
              <a:t>Project report (15-20 pages)</a:t>
            </a:r>
            <a:endParaRPr lang="en-US" sz="1100" dirty="0"/>
          </a:p>
        </p:txBody>
      </p:sp>
      <p:sp>
        <p:nvSpPr>
          <p:cNvPr id="17" name="Shape 9"/>
          <p:cNvSpPr/>
          <p:nvPr/>
        </p:nvSpPr>
        <p:spPr>
          <a:xfrm>
            <a:off x="4729808" y="1019556"/>
            <a:ext cx="3931920" cy="196596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8" name="Text 10"/>
          <p:cNvSpPr/>
          <p:nvPr/>
        </p:nvSpPr>
        <p:spPr>
          <a:xfrm>
            <a:off x="4937760" y="114300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6B35"/>
                </a:solidFill>
              </a:rPr>
              <a:t>Success Metrics</a:t>
            </a:r>
            <a:endParaRPr lang="en-US" sz="1800" dirty="0"/>
          </a:p>
        </p:txBody>
      </p:sp>
      <p:sp>
        <p:nvSpPr>
          <p:cNvPr id="19" name="Text 11"/>
          <p:cNvSpPr/>
          <p:nvPr/>
        </p:nvSpPr>
        <p:spPr>
          <a:xfrm>
            <a:off x="5029200" y="160020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Detection Accuracy</a:t>
            </a:r>
            <a:endParaRPr lang="en-US" sz="1200" dirty="0"/>
          </a:p>
        </p:txBody>
      </p:sp>
      <p:sp>
        <p:nvSpPr>
          <p:cNvPr id="20" name="Text 12"/>
          <p:cNvSpPr/>
          <p:nvPr/>
        </p:nvSpPr>
        <p:spPr>
          <a:xfrm>
            <a:off x="6120580" y="1609344"/>
            <a:ext cx="250870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00D9FF"/>
                </a:solidFill>
              </a:rPr>
              <a:t>&gt;90% (Industry standard for surveillance)</a:t>
            </a:r>
            <a:endParaRPr lang="en-US" sz="1000" dirty="0"/>
          </a:p>
        </p:txBody>
      </p:sp>
      <p:sp>
        <p:nvSpPr>
          <p:cNvPr id="21" name="Text 13"/>
          <p:cNvSpPr/>
          <p:nvPr/>
        </p:nvSpPr>
        <p:spPr>
          <a:xfrm>
            <a:off x="5029200" y="1965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False Positive Rate</a:t>
            </a:r>
            <a:endParaRPr lang="en-US" sz="1200" dirty="0"/>
          </a:p>
        </p:txBody>
      </p:sp>
      <p:sp>
        <p:nvSpPr>
          <p:cNvPr id="22" name="Text 14"/>
          <p:cNvSpPr/>
          <p:nvPr/>
        </p:nvSpPr>
        <p:spPr>
          <a:xfrm>
            <a:off x="5884606" y="2049288"/>
            <a:ext cx="261931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00D9FF"/>
                </a:solidFill>
              </a:rPr>
              <a:t>&lt;20% (Significantly better than 30-40% manual rate)</a:t>
            </a:r>
            <a:endParaRPr lang="en-US" sz="1000" dirty="0"/>
          </a:p>
        </p:txBody>
      </p:sp>
      <p:sp>
        <p:nvSpPr>
          <p:cNvPr id="23" name="Text 15"/>
          <p:cNvSpPr/>
          <p:nvPr/>
        </p:nvSpPr>
        <p:spPr>
          <a:xfrm>
            <a:off x="5029200" y="23317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Processing Speed</a:t>
            </a:r>
            <a:endParaRPr lang="en-US" sz="1200" dirty="0"/>
          </a:p>
        </p:txBody>
      </p:sp>
      <p:sp>
        <p:nvSpPr>
          <p:cNvPr id="24" name="Text 16"/>
          <p:cNvSpPr/>
          <p:nvPr/>
        </p:nvSpPr>
        <p:spPr>
          <a:xfrm>
            <a:off x="6101408" y="2338578"/>
            <a:ext cx="1808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00D9FF"/>
                </a:solidFill>
              </a:rPr>
              <a:t>&gt;20 FPS (Real-time capability)</a:t>
            </a:r>
            <a:endParaRPr lang="en-US" sz="1000" dirty="0"/>
          </a:p>
        </p:txBody>
      </p:sp>
      <p:sp>
        <p:nvSpPr>
          <p:cNvPr id="25" name="Text 17"/>
          <p:cNvSpPr/>
          <p:nvPr/>
        </p:nvSpPr>
        <p:spPr>
          <a:xfrm>
            <a:off x="5029200" y="269748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</a:rPr>
              <a:t>Alert Response Time</a:t>
            </a:r>
            <a:endParaRPr lang="en-US" sz="1200" dirty="0"/>
          </a:p>
        </p:txBody>
      </p:sp>
      <p:sp>
        <p:nvSpPr>
          <p:cNvPr id="26" name="Text 18"/>
          <p:cNvSpPr/>
          <p:nvPr/>
        </p:nvSpPr>
        <p:spPr>
          <a:xfrm>
            <a:off x="6276176" y="2697480"/>
            <a:ext cx="1712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00D9FF"/>
                </a:solidFill>
              </a:rPr>
              <a:t>&lt;1 sec (Instant notification)</a:t>
            </a:r>
            <a:endParaRPr lang="en-US" sz="1000" dirty="0"/>
          </a:p>
        </p:txBody>
      </p:sp>
      <p:sp>
        <p:nvSpPr>
          <p:cNvPr id="27" name="Shape 19"/>
          <p:cNvSpPr/>
          <p:nvPr/>
        </p:nvSpPr>
        <p:spPr>
          <a:xfrm>
            <a:off x="457200" y="3108960"/>
            <a:ext cx="8229600" cy="914400"/>
          </a:xfrm>
          <a:prstGeom prst="rect">
            <a:avLst/>
          </a:prstGeom>
          <a:solidFill>
            <a:srgbClr val="3D4E76"/>
          </a:solidFill>
          <a:ln/>
        </p:spPr>
      </p:sp>
      <p:sp>
        <p:nvSpPr>
          <p:cNvPr id="28" name="Text 20"/>
          <p:cNvSpPr/>
          <p:nvPr/>
        </p:nvSpPr>
        <p:spPr>
          <a:xfrm>
            <a:off x="457200" y="33832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Production-Ready AI System for National Security</a:t>
            </a:r>
            <a:endParaRPr lang="en-US" sz="18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400">
        <p14:doors dir="vert"/>
      </p:transition>
    </mc:Choice>
    <mc:Fallback xmlns=""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i="1" dirty="0">
                <a:solidFill>
                  <a:srgbClr val="00D9FF"/>
                </a:solidFill>
              </a:rPr>
              <a:t>This project demonstrates:</a:t>
            </a:r>
            <a:endParaRPr lang="en-US" sz="18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0" y="1508760"/>
            <a:ext cx="228600" cy="2286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737360" y="1554480"/>
            <a:ext cx="6035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</a:rPr>
              <a:t>Practical application of AI/ML in national security</a:t>
            </a:r>
            <a:endParaRPr lang="en-US" sz="130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0" y="1828800"/>
            <a:ext cx="228600" cy="22860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737360" y="1874520"/>
            <a:ext cx="6035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</a:rPr>
              <a:t>Integration of Microsoft Elevate learnings (all 12 weeks)</a:t>
            </a:r>
            <a:endParaRPr lang="en-US" sz="1300" dirty="0"/>
          </a:p>
        </p:txBody>
      </p:sp>
      <p:pic>
        <p:nvPicPr>
          <p:cNvPr id="8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0" y="2148840"/>
            <a:ext cx="228600" cy="228600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1737360" y="2194560"/>
            <a:ext cx="6035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</a:rPr>
              <a:t>End-to-end system development (data → deployment)</a:t>
            </a:r>
            <a:endParaRPr lang="en-US" sz="1300" dirty="0"/>
          </a:p>
        </p:txBody>
      </p:sp>
      <p:pic>
        <p:nvPicPr>
          <p:cNvPr id="10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0" y="2468880"/>
            <a:ext cx="228600" cy="228600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1737360" y="2514600"/>
            <a:ext cx="6035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</a:rPr>
              <a:t>Cloud computing skills using Azure platform</a:t>
            </a:r>
            <a:endParaRPr lang="en-US" sz="1300" dirty="0"/>
          </a:p>
        </p:txBody>
      </p:sp>
      <p:pic>
        <p:nvPicPr>
          <p:cNvPr id="12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0" y="2788920"/>
            <a:ext cx="228600" cy="228600"/>
          </a:xfrm>
          <a:prstGeom prst="rect">
            <a:avLst/>
          </a:prstGeom>
        </p:spPr>
      </p:pic>
      <p:sp>
        <p:nvSpPr>
          <p:cNvPr id="13" name="Text 6"/>
          <p:cNvSpPr/>
          <p:nvPr/>
        </p:nvSpPr>
        <p:spPr>
          <a:xfrm>
            <a:off x="1737360" y="2834640"/>
            <a:ext cx="6035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</a:rPr>
              <a:t>Real-world problem-solving approach</a:t>
            </a:r>
            <a:endParaRPr lang="en-US" sz="1300" dirty="0"/>
          </a:p>
        </p:txBody>
      </p:sp>
      <p:sp>
        <p:nvSpPr>
          <p:cNvPr id="14" name="Text 7"/>
          <p:cNvSpPr/>
          <p:nvPr/>
        </p:nvSpPr>
        <p:spPr>
          <a:xfrm>
            <a:off x="457200" y="3040381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6B35"/>
                </a:solidFill>
              </a:rPr>
              <a:t>Impact:</a:t>
            </a:r>
            <a:endParaRPr lang="en-US" sz="1800" dirty="0"/>
          </a:p>
        </p:txBody>
      </p:sp>
      <p:pic>
        <p:nvPicPr>
          <p:cNvPr id="15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45920" y="3383280"/>
            <a:ext cx="228600" cy="228600"/>
          </a:xfrm>
          <a:prstGeom prst="rect">
            <a:avLst/>
          </a:prstGeom>
        </p:spPr>
      </p:pic>
      <p:sp>
        <p:nvSpPr>
          <p:cNvPr id="16" name="Text 8"/>
          <p:cNvSpPr/>
          <p:nvPr/>
        </p:nvSpPr>
        <p:spPr>
          <a:xfrm>
            <a:off x="1965960" y="3429000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</a:rPr>
              <a:t>Enhances border security through automation</a:t>
            </a:r>
            <a:endParaRPr lang="en-US" sz="1300" dirty="0"/>
          </a:p>
        </p:txBody>
      </p:sp>
      <p:pic>
        <p:nvPicPr>
          <p:cNvPr id="17" name="Image 6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45920" y="3675888"/>
            <a:ext cx="228600" cy="228600"/>
          </a:xfrm>
          <a:prstGeom prst="rect">
            <a:avLst/>
          </a:prstGeom>
        </p:spPr>
      </p:pic>
      <p:sp>
        <p:nvSpPr>
          <p:cNvPr id="18" name="Text 9"/>
          <p:cNvSpPr/>
          <p:nvPr/>
        </p:nvSpPr>
        <p:spPr>
          <a:xfrm>
            <a:off x="1965960" y="3721608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</a:rPr>
              <a:t>Reduces manual monitoring burden</a:t>
            </a:r>
            <a:endParaRPr lang="en-US" sz="1300" dirty="0"/>
          </a:p>
        </p:txBody>
      </p:sp>
      <p:pic>
        <p:nvPicPr>
          <p:cNvPr id="19" name="Image 7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45920" y="3968496"/>
            <a:ext cx="228600" cy="228600"/>
          </a:xfrm>
          <a:prstGeom prst="rect">
            <a:avLst/>
          </a:prstGeom>
        </p:spPr>
      </p:pic>
      <p:sp>
        <p:nvSpPr>
          <p:cNvPr id="20" name="Text 10"/>
          <p:cNvSpPr/>
          <p:nvPr/>
        </p:nvSpPr>
        <p:spPr>
          <a:xfrm>
            <a:off x="1965960" y="4014216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</a:rPr>
              <a:t>Improves threat detection speed and accuracy</a:t>
            </a:r>
            <a:endParaRPr lang="en-US" sz="1300" dirty="0"/>
          </a:p>
        </p:txBody>
      </p:sp>
      <p:pic>
        <p:nvPicPr>
          <p:cNvPr id="21" name="Image 8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45920" y="4261104"/>
            <a:ext cx="228600" cy="228600"/>
          </a:xfrm>
          <a:prstGeom prst="rect">
            <a:avLst/>
          </a:prstGeom>
        </p:spPr>
      </p:pic>
      <p:sp>
        <p:nvSpPr>
          <p:cNvPr id="22" name="Text 11"/>
          <p:cNvSpPr/>
          <p:nvPr/>
        </p:nvSpPr>
        <p:spPr>
          <a:xfrm>
            <a:off x="1965960" y="4306824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</a:rPr>
              <a:t>Scalable solution for large-scale surveillance</a:t>
            </a:r>
            <a:endParaRPr lang="en-US" sz="13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2D3E6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D9FF"/>
                </a:solidFill>
              </a:rPr>
              <a:t>Datasets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37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D9FF"/>
                </a:solidFill>
              </a:rPr>
              <a:t>•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3566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ADCFC"/>
                </a:solidFill>
              </a:rPr>
              <a:t>UCF-Crime: crcv.ucf.edu/projects/real-world/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618488"/>
            <a:ext cx="137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D9FF"/>
                </a:solidFill>
              </a:rPr>
              <a:t>•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31520" y="1618488"/>
            <a:ext cx="3566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ADCFC"/>
                </a:solidFill>
              </a:rPr>
              <a:t>xView: xviewdataset.org/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48640" y="1865376"/>
            <a:ext cx="137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D9FF"/>
                </a:solidFill>
              </a:rPr>
              <a:t>•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1865376"/>
            <a:ext cx="3566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ADCFC"/>
                </a:solidFill>
              </a:rPr>
              <a:t>DOTA: captain-whu.github.io/DOTA/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57200" y="219456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D9FF"/>
                </a:solidFill>
              </a:rPr>
              <a:t>Technologies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548640" y="2560320"/>
            <a:ext cx="137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D9FF"/>
                </a:solidFill>
              </a:rPr>
              <a:t>•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31520" y="2560320"/>
            <a:ext cx="3566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ADCFC"/>
                </a:solidFill>
              </a:rPr>
              <a:t>YOLOv8: docs.ultralytics.com/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48640" y="2807208"/>
            <a:ext cx="137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D9FF"/>
                </a:solidFill>
              </a:rPr>
              <a:t>•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31520" y="2807208"/>
            <a:ext cx="3566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ADCFC"/>
                </a:solidFill>
              </a:rPr>
              <a:t>Microsoft Azure: azure.microsoft.com/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48640" y="3054096"/>
            <a:ext cx="137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D9FF"/>
                </a:solidFill>
              </a:rPr>
              <a:t>•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31520" y="3054096"/>
            <a:ext cx="3566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ADCFC"/>
                </a:solidFill>
              </a:rPr>
              <a:t>TensorFlow: tensorflow.org/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754880" y="100584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6B35"/>
                </a:solidFill>
              </a:rPr>
              <a:t>Research Papers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846320" y="1371600"/>
            <a:ext cx="137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6B35"/>
                </a:solidFill>
              </a:rPr>
              <a:t>•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029200" y="137160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ADCFC"/>
                </a:solidFill>
              </a:rPr>
              <a:t>Real-world Anomaly Detection in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ADCFC"/>
                </a:solidFill>
              </a:rPr>
              <a:t>Surveillance Videos (CVPR)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46320" y="1920240"/>
            <a:ext cx="137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6B35"/>
                </a:solidFill>
              </a:rPr>
              <a:t>•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029200" y="192024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ADCFC"/>
                </a:solidFill>
              </a:rPr>
              <a:t>YOLOv8: Advanced Object Detection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ADCFC"/>
                </a:solidFill>
              </a:rPr>
              <a:t>Architecture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46320" y="2468880"/>
            <a:ext cx="137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6B35"/>
                </a:solidFill>
              </a:rPr>
              <a:t>•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029200" y="246888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ADCFC"/>
                </a:solidFill>
              </a:rPr>
              <a:t>Enhancing Border Security Through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ADCFC"/>
                </a:solidFill>
              </a:rPr>
              <a:t>Computer Vision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57200" y="3474720"/>
            <a:ext cx="8229600" cy="731520"/>
          </a:xfrm>
          <a:prstGeom prst="rect">
            <a:avLst/>
          </a:prstGeom>
          <a:solidFill>
            <a:srgbClr val="3D4E76"/>
          </a:solidFill>
          <a:ln/>
        </p:spPr>
      </p:sp>
      <p:sp>
        <p:nvSpPr>
          <p:cNvPr id="25" name="Text 23"/>
          <p:cNvSpPr/>
          <p:nvPr/>
        </p:nvSpPr>
        <p:spPr>
          <a:xfrm>
            <a:off x="457200" y="36576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CADCFC"/>
                </a:solidFill>
              </a:rPr>
              <a:t>All references and resources available in project documentation</a:t>
            </a:r>
            <a:endParaRPr lang="en-US" sz="13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0" y="571500"/>
            <a:ext cx="914400" cy="9144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16916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You!</a:t>
            </a:r>
            <a:endParaRPr lang="en-US" sz="4400" dirty="0"/>
          </a:p>
        </p:txBody>
      </p:sp>
      <p:sp>
        <p:nvSpPr>
          <p:cNvPr id="4" name="Text 1"/>
          <p:cNvSpPr/>
          <p:nvPr/>
        </p:nvSpPr>
        <p:spPr>
          <a:xfrm>
            <a:off x="457200" y="2336145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i="1" dirty="0">
                <a:solidFill>
                  <a:srgbClr val="00D9FF"/>
                </a:solidFill>
              </a:rPr>
              <a:t>Questions?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2182761" y="2780144"/>
            <a:ext cx="4492359" cy="1390036"/>
          </a:xfrm>
          <a:prstGeom prst="rect">
            <a:avLst/>
          </a:prstGeom>
          <a:solidFill>
            <a:srgbClr val="3D4E76"/>
          </a:solidFill>
          <a:ln/>
        </p:spPr>
      </p:sp>
      <p:sp>
        <p:nvSpPr>
          <p:cNvPr id="6" name="Text 3"/>
          <p:cNvSpPr/>
          <p:nvPr/>
        </p:nvSpPr>
        <p:spPr>
          <a:xfrm>
            <a:off x="2468880" y="2871069"/>
            <a:ext cx="4206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D9FF"/>
                </a:solidFill>
              </a:rPr>
              <a:t>Contact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2468880" y="3154238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ADCFC"/>
                </a:solidFill>
              </a:rPr>
              <a:t>Jainil Gupta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2468880" y="3383722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ADCFC"/>
                </a:solidFill>
              </a:rPr>
              <a:t>Email: Jainilgupta93@outlook.com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2468880" y="3636805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00" dirty="0">
                <a:solidFill>
                  <a:srgbClr val="CADCFC"/>
                </a:solidFill>
              </a:rPr>
              <a:t>GitHub: https://github.com/jainilgupta02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2468880" y="3886421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ADCFC"/>
                </a:solidFill>
              </a:rPr>
              <a:t>LinkedIn: https://linkedin.com/in/jainilgupta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457200" y="4617720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A8B8D8"/>
                </a:solidFill>
              </a:rPr>
              <a:t>SAL Institute of Technology and Engineering Research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457200" y="4800600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A8B8D8"/>
                </a:solidFill>
              </a:rPr>
              <a:t>Microsoft Elevate Internship 2026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14:flythrough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order_Defence_Presentation" id="{9E4F15CF-6B86-494D-9959-3096D1BA2AB0}" vid="{5DD214B2-4F19-4E61-B85D-15F74B7965D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45</TotalTime>
  <Words>1499</Words>
  <Application>Microsoft Office PowerPoint</Application>
  <PresentationFormat>On-screen Show (16:9)</PresentationFormat>
  <Paragraphs>375</Paragraphs>
  <Slides>24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8" baseType="lpstr">
      <vt:lpstr>Arial</vt:lpstr>
      <vt:lpstr>Calibri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Border Defence and Surveillance - AI-Powered System</dc:title>
  <dc:subject>PptxGenJS Presentation</dc:subject>
  <dc:creator>Jay Gupta</dc:creator>
  <cp:lastModifiedBy>Jainil Gupta</cp:lastModifiedBy>
  <cp:revision>8</cp:revision>
  <dcterms:created xsi:type="dcterms:W3CDTF">2026-02-06T17:39:37Z</dcterms:created>
  <dcterms:modified xsi:type="dcterms:W3CDTF">2026-02-06T18:42:23Z</dcterms:modified>
</cp:coreProperties>
</file>