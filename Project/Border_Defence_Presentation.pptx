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80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7" r:id="rId23"/>
    <p:sldId id="278" r:id="rId24"/>
    <p:sldId id="27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9795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3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D50231F6-5961-CD39-D131-EE1D3A5C95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20040"/>
            <a:ext cx="914400" cy="9144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2CF76BC-D8E4-D021-9621-BEECB4A3EA1E}"/>
              </a:ext>
            </a:extLst>
          </p:cNvPr>
          <p:cNvSpPr/>
          <p:nvPr/>
        </p:nvSpPr>
        <p:spPr>
          <a:xfrm>
            <a:off x="457200" y="1376433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Border Defence and Surveillance</a:t>
            </a:r>
            <a:endParaRPr lang="en-US" sz="40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B1AA162-9A1E-B52A-99CE-162972E982EC}"/>
              </a:ext>
            </a:extLst>
          </p:cNvPr>
          <p:cNvSpPr/>
          <p:nvPr/>
        </p:nvSpPr>
        <p:spPr>
          <a:xfrm>
            <a:off x="457200" y="1924761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10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System</a:t>
            </a:r>
            <a:endParaRPr lang="en-US" sz="3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76F06AB-FE93-45B3-65AD-274E4A23C9E5}"/>
              </a:ext>
            </a:extLst>
          </p:cNvPr>
          <p:cNvSpPr/>
          <p:nvPr/>
        </p:nvSpPr>
        <p:spPr>
          <a:xfrm>
            <a:off x="2743200" y="328349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Prepared by: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 – Jainil Gupta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Enrollment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- 220670132018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Guided By – Chintan Rana</a:t>
            </a:r>
          </a:p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A599060-05AB-61BF-3600-3152B287A4F8}"/>
              </a:ext>
            </a:extLst>
          </p:cNvPr>
          <p:cNvSpPr/>
          <p:nvPr/>
        </p:nvSpPr>
        <p:spPr>
          <a:xfrm>
            <a:off x="1828800" y="4316115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/>
              <a:t>Information &amp; Communication Technology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ABF8560-F62A-D470-18D2-BDED58499F31}"/>
              </a:ext>
            </a:extLst>
          </p:cNvPr>
          <p:cNvSpPr/>
          <p:nvPr/>
        </p:nvSpPr>
        <p:spPr>
          <a:xfrm>
            <a:off x="1371600" y="454914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/>
              <a:t>SAL Institute of Technology and Engineering Research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FAF97D-E5F1-7F09-C3B4-292DF9AC18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59" y="194423"/>
            <a:ext cx="1578817" cy="11820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D59752-B36A-41EF-D8AE-B0ECA1C352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1124" y="-125730"/>
            <a:ext cx="17145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20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3200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72972" y="142095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Defence and Surveillance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2017841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10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System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743200" y="33635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Prepared by: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 – Jainil Gupta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 err="1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Enrollment</a:t>
            </a:r>
            <a:r>
              <a:rPr lang="en-IN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- 220670132018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Guided By – Chintan Rana</a:t>
            </a:r>
          </a:p>
          <a:p>
            <a:pPr marL="0" indent="0" algn="ctr">
              <a:buNone/>
            </a:pP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1828800" y="44805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Information &amp; Communication Technology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47091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SAL Institute of Technology and Engineering Research</a:t>
            </a:r>
            <a:endParaRPr lang="en-US" sz="13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A20C42-4CE3-9A3D-15D8-22D5427C60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59" y="194422"/>
            <a:ext cx="1610360" cy="1205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CF9136-C33B-113A-7354-B7F5610D68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1124" y="-125730"/>
            <a:ext cx="1714500" cy="171450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Company Profile (Microsoft Elevate Program)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002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Roles and Responsibilities during Internship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196596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19202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Proposed Project Title with Applicability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33172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317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22860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Brief Introduction to the Project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69748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69748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26517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Project Goals and Objectives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06324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06324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30175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Key Functionalities/Features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342900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4290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3383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Methodology / Tools &amp; Technology Used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379476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7947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7490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Timeline of Project (12-Week Plan)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416052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41605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05840" y="4114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Conclusion and References</a:t>
            </a:r>
            <a:endParaRPr lang="en-US" sz="1400" dirty="0"/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Microsoft Elevate Program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234440"/>
            <a:ext cx="320040" cy="3200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5840" y="123444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12-week intensive virtual internship program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66344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234440"/>
            <a:ext cx="320040" cy="320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212080" y="123444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Powered by Edunet Foundation &amp; FICE Education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57200" y="228600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423160"/>
            <a:ext cx="320040" cy="3200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242316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Partnership with GTU for 8th Semester Internship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4663440" y="228600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2423160"/>
            <a:ext cx="320040" cy="32004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212080" y="242316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Focus: Data Analytics, ML, DL, Power BI, Azure Cloud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457200" y="3474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611880"/>
            <a:ext cx="320040" cy="32004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005840" y="361188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Industry mentorship from Microsoft-certified trainers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663440" y="3474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3611880"/>
            <a:ext cx="320040" cy="32004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5212080" y="361188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Hands-on labs with real-world datasets</a:t>
            </a:r>
            <a:endParaRPr lang="en-US" sz="1300" dirty="0"/>
          </a:p>
        </p:txBody>
      </p:sp>
      <p:sp>
        <p:nvSpPr>
          <p:cNvPr id="22" name="Text 2"/>
          <p:cNvSpPr/>
          <p:nvPr/>
        </p:nvSpPr>
        <p:spPr>
          <a:xfrm>
            <a:off x="457200" y="4689043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ADCFC"/>
                </a:solidFill>
              </a:rPr>
              <a:t>Microsoft Elevate Internship Project | Jan-Apr 2026</a:t>
            </a:r>
            <a:endParaRPr lang="en-US" sz="1600" dirty="0"/>
          </a:p>
        </p:txBody>
      </p:sp>
    </p:spTree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- Learning Modules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371600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1-2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920240" y="109728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6" name="Text 4"/>
          <p:cNvSpPr/>
          <p:nvPr/>
        </p:nvSpPr>
        <p:spPr>
          <a:xfrm>
            <a:off x="210312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Data Analytics &amp; EDA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371600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459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3-5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20240" y="164592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0" name="Text 8"/>
          <p:cNvSpPr/>
          <p:nvPr/>
        </p:nvSpPr>
        <p:spPr>
          <a:xfrm>
            <a:off x="2103120" y="1645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Power BI &amp; Business Intelligence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137160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6-7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920240" y="219456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4" name="Text 12"/>
          <p:cNvSpPr/>
          <p:nvPr/>
        </p:nvSpPr>
        <p:spPr>
          <a:xfrm>
            <a:off x="210312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Machine Learning (Supervised &amp; Unsupervised)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1371600" cy="4572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7432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8-9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920240" y="274320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8" name="Text 16"/>
          <p:cNvSpPr/>
          <p:nvPr/>
        </p:nvSpPr>
        <p:spPr>
          <a:xfrm>
            <a:off x="2103120" y="27432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Deep Learning &amp; Computer Vision (CNN)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291840"/>
            <a:ext cx="1371600" cy="45720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10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920240" y="329184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2" name="Text 20"/>
          <p:cNvSpPr/>
          <p:nvPr/>
        </p:nvSpPr>
        <p:spPr>
          <a:xfrm>
            <a:off x="2103120" y="32918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Generative AI &amp; Prompt Engineering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1371600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840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11-12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920240" y="384048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6" name="Text 24"/>
          <p:cNvSpPr/>
          <p:nvPr/>
        </p:nvSpPr>
        <p:spPr>
          <a:xfrm>
            <a:off x="2103120" y="3840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Microsoft Azure Cloud &amp; Deployment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Role During Internship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10972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Attend weekly live sessions and complete hands-on labs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5544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Work on real-world datasets for Data Analytics &amp; ML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0116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20116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Build end-to-end ML pipelines (data → model → deployment)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4688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24688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Develop Power BI dashboards for data visualization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9260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29260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Deploy AI models on Microsoft Azure Cloud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57200" y="33832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33832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Complete GTU internship project under Border Defence domain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57200" y="38404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38404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Maintain GitHub repository with clean code practices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Project Title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9144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AI-Powered Border Surveillance System with Real-Time Anomaly Detection and Cloud-Based Alert Management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D9FF"/>
                </a:solidFill>
              </a:rPr>
              <a:t>Applicability</a:t>
            </a:r>
            <a:endParaRPr lang="en-US" sz="2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231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4688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National Border Security Enhancement</a:t>
            </a:r>
            <a:endParaRPr lang="en-US" sz="14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346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880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Automated threat detection replacing manual monitoring</a:t>
            </a:r>
            <a:endParaRPr lang="en-US" sz="14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4612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Real-time alert system for security personnel</a:t>
            </a:r>
            <a:endParaRPr lang="en-US" sz="14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14400" y="37033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Cost-effective alternative to traditional surveillance</a:t>
            </a:r>
            <a:endParaRPr lang="en-US" sz="14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69080"/>
            <a:ext cx="274320" cy="27432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14400" y="4114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Scalable solution for large-scale border monitoring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854" y="36576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20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Defence &amp; Surveillance Challenges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45720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9FF"/>
                </a:solidFill>
              </a:rPr>
              <a:t>Key Issues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3716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Large-scale monitoring of vast border areas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8308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Delayed threat detection due to manual analysis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19456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21945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High false alarm rates (animals, weather, noise)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60604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6060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Limited manpower and resources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1752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0175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Poor data integration from sensors and cameras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0" y="1005840"/>
            <a:ext cx="3657600" cy="27432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280160"/>
            <a:ext cx="914400" cy="9144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1208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Solution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5303520" y="27432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AI-powered automated surveillance system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Project About?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0D9FF"/>
                </a:solidFill>
              </a:rPr>
              <a:t>An intelligent surveillance system that: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60020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Monitors border areas using video surveillance data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663440" y="146304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60020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212080" y="160020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Automatically detects unusual activities and objects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251460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65176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65176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Uses Machine Learning to identify threats in real-time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663440" y="251460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265176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212080" y="265176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Sends prioritized alerts to security personnel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457200" y="356616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70332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05840" y="3703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Deploys on Azure Cloud for scalability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4663440" y="356616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3703320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12080" y="3703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Visualizes data through interactive Power BI dashboard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15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FF"/>
                </a:solidFill>
              </a:rPr>
              <a:t>Technology: Computer Vision + Machine Learning + Cloud Computing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Goals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48640" y="11430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143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60120" y="1097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Build end-to-end AI surveillance system from scratch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6002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5544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Implement object detection (persons, vehicles, weapons)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0574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0574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60120" y="2011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Develop anomaly detection for unusual activities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5146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514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60120" y="24688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Reduce false alarm rates using confidence scoring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29718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29718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60120" y="29260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Deploy scalable solution on Microsoft Azure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4290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3429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60120" y="3383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Create real-time monitoring dashboard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8862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7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60120" y="38404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Align with Microsoft Elevate learning objectives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Objectives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23444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Perform EDA on surveillance datasets (UCF-Crime, xView)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8" name="Shape 6"/>
          <p:cNvSpPr/>
          <p:nvPr/>
        </p:nvSpPr>
        <p:spPr>
          <a:xfrm>
            <a:off x="4663440" y="1097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11887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74920" y="123444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Train YOLOv8 object detection model (&gt;90% accuracy)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33172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4231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246888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Build ensemble anomaly detection (Isolation Forest + RF)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331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6" name="Shape 14"/>
          <p:cNvSpPr/>
          <p:nvPr/>
        </p:nvSpPr>
        <p:spPr>
          <a:xfrm>
            <a:off x="4663440" y="233172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24231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74920" y="246888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Develop alert prioritization system (&lt;20% false positives)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56616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576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8680" y="370332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Deploy on Azure (Functions, Blob Storage, Cosmos DB)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356616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4" name="Shape 22"/>
          <p:cNvSpPr/>
          <p:nvPr/>
        </p:nvSpPr>
        <p:spPr>
          <a:xfrm>
            <a:off x="4663440" y="356616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36576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074920" y="370332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Create Power BI dashboard for real-time monitoring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46304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Detection Module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16916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Real-time object detection (persons, vehicles, weapons)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19659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Frame-by-frame video analysis (30+ FPS)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24028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24028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Bounding box generation with confidence scores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97280"/>
            <a:ext cx="3931920" cy="146304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924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Anomaly Detection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937760" y="169164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120640" y="16916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Identify unusual movement patterns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937760" y="196596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120640" y="19659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Detect suspicious activities automatically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937760" y="224028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120640" y="224028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Machine learning-based classification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18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Powered by YOLOv8 + Ensemble Machine Learning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Combining state-of-the-art deep learning with traditional ML for robust threat detection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 (Continued)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64592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Alert System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1737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Priority-based alert generation (High/Medium/Low)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20574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057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False positive filtering using confidence thresholding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377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Notification via email/SMS for critical alerts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97280"/>
            <a:ext cx="3931920" cy="164592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924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Dashboard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937760" y="1737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12064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Real-time alert feed (last 24 hours)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937760" y="20574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120640" y="2057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Anomaly heatmap showing high-risk zones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937760" y="23774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120640" y="2377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Detection count trends and analytics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Seamless Integration</a:t>
            </a:r>
            <a:endParaRPr lang="en-US" sz="2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474720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3152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Video Input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55448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40" y="347472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19456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AI Processing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301752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3474720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65760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Alerts</a:t>
            </a:r>
            <a:endParaRPr lang="en-US" sz="1000" dirty="0"/>
          </a:p>
        </p:txBody>
      </p:sp>
      <p:sp>
        <p:nvSpPr>
          <p:cNvPr id="30" name="Text 23"/>
          <p:cNvSpPr/>
          <p:nvPr/>
        </p:nvSpPr>
        <p:spPr>
          <a:xfrm>
            <a:off x="448056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0" y="3474720"/>
            <a:ext cx="457200" cy="45720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12064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Cloud Storage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594360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474720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58368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Dashboard</a:t>
            </a:r>
            <a:endParaRPr lang="en-US" sz="1000" dirty="0"/>
          </a:p>
        </p:txBody>
      </p:sp>
    </p:spTree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Flow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00584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0584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Text 3"/>
          <p:cNvSpPr/>
          <p:nvPr/>
        </p:nvSpPr>
        <p:spPr>
          <a:xfrm>
            <a:off x="718246" y="9829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051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 Input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931920" y="1051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Frame Extraction (OpenCV)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9686" y="1371600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71600" y="150876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152314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4943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1554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Preprocessing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31920" y="1554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Resize, Normalize, Upload to Azure Blob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904755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371600" y="201168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205740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057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2057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Detection Layer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31920" y="2057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YOLOv8 Object Detection + Anomaly Detection (Ensemble)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423160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371600" y="251460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258318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560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54480" y="2560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Alert Processing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93192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Confidence Filtering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2133" y="2920918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371600" y="301752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8" name="Shape 26"/>
          <p:cNvSpPr/>
          <p:nvPr/>
        </p:nvSpPr>
        <p:spPr>
          <a:xfrm>
            <a:off x="731520" y="306324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063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55448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Notification Layer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3192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Email/SMS Alerts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440799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371600" y="352044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34" name="Shape 32"/>
          <p:cNvSpPr/>
          <p:nvPr/>
        </p:nvSpPr>
        <p:spPr>
          <a:xfrm>
            <a:off x="731520" y="356616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554480" y="3566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Visualization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93192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Power BI Dashboard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22960" y="3977640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371600" y="402336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0" name="Shape 38"/>
          <p:cNvSpPr/>
          <p:nvPr/>
        </p:nvSpPr>
        <p:spPr>
          <a:xfrm>
            <a:off x="731520" y="416052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1" name="Text 39"/>
          <p:cNvSpPr/>
          <p:nvPr/>
        </p:nvSpPr>
        <p:spPr>
          <a:xfrm>
            <a:off x="718246" y="4160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7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554480" y="4069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Storage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93192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Azure Blob + Cosmos DB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1" y="1028700"/>
            <a:ext cx="3931920" cy="210312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Programming &amp; Libraries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150876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15087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Python 3.9+ (Core language)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178308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17830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OpenCV (Video processing)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31520" y="205740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TensorFlow, Keras (Deep Learning)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233172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Scikit-learn (Machine Learning)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60604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14400" y="2606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Pandas, NumPy (Data manipulation)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288036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14400" y="2880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Matplotlib, Seaborn (Visualization)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754880" y="1005840"/>
            <a:ext cx="3931920" cy="210312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57300"/>
            <a:ext cx="914400" cy="91440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892040" y="2185711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</a:rPr>
              <a:t>Object Detection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937760" y="25374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YOLOv8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937760" y="281178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B8D8"/>
                </a:solidFill>
              </a:rPr>
              <a:t>(Ultralytics)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4" name="Text 20"/>
          <p:cNvSpPr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ADCFC"/>
                </a:solidFill>
              </a:rPr>
              <a:t>Leveraging industry-standard tools and frameworks for production-grade AI development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conveyor dir="l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Deployment Stack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05840"/>
            <a:ext cx="5303520" cy="18288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143000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58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Microsoft Azure Services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40080" y="150876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822960" y="1508760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Blob Storage (Video/frame storage)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40080" y="175564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22960" y="1755648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Functions (Serverless processing)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2002536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22960" y="200253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Cosmos DB (Alert logs, metadata)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640080" y="2249424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22960" y="224942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Computer Vision API (Enhanced analysis)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40080" y="2496312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22960" y="2496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Application Insights (Monitoring)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7200" y="3017520"/>
            <a:ext cx="2560320" cy="109728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0584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DevOps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352044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22960" y="35204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GitHub Actions (CI/CD)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40080" y="376732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822960" y="37673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Docker (Containerization)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200400" y="3017520"/>
            <a:ext cx="2743200" cy="109728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154680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3749040" y="31546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Business Intelligence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3383280" y="352044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3566160" y="352044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Power BI (Dashboard)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3383280" y="376732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3566160" y="376732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DAX (Custom metrics)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6126480" y="1005840"/>
            <a:ext cx="2560320" cy="310896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1645920"/>
            <a:ext cx="1097280" cy="109728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6309360" y="29260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Azure Cloud</a:t>
            </a:r>
            <a:endParaRPr lang="en-US" sz="1600" dirty="0"/>
          </a:p>
        </p:txBody>
      </p:sp>
      <p:sp>
        <p:nvSpPr>
          <p:cNvPr id="34" name="Text 27"/>
          <p:cNvSpPr/>
          <p:nvPr/>
        </p:nvSpPr>
        <p:spPr>
          <a:xfrm>
            <a:off x="6309360" y="32918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Scalable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Secure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Reliable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 for Training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822960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Shape 2"/>
          <p:cNvSpPr/>
          <p:nvPr/>
        </p:nvSpPr>
        <p:spPr>
          <a:xfrm>
            <a:off x="457200" y="1097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1188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UCF-Crime Dataset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1508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05840" y="15087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128 hours of surveillance footage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1719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05840" y="1719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1,900 videos with 13 anomaly types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929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05840" y="1929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Use: Anomaly detection training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240280"/>
            <a:ext cx="822960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4" name="Shape 11"/>
          <p:cNvSpPr/>
          <p:nvPr/>
        </p:nvSpPr>
        <p:spPr>
          <a:xfrm>
            <a:off x="457200" y="2240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2331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xView Satellite Dataset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2960" y="2651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005840" y="26517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 million+ annotated objects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2862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5840" y="2862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0.3m resolution satellite imagery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22960" y="3072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005840" y="3072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Use: Object detection training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383280"/>
            <a:ext cx="822960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3" name="Shape 20"/>
          <p:cNvSpPr/>
          <p:nvPr/>
        </p:nvSpPr>
        <p:spPr>
          <a:xfrm>
            <a:off x="457200" y="3383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3474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DOTA (Aerial Images)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22960" y="3794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005840" y="37947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280,000 annotated objects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22960" y="4005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005840" y="4005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15 object categories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22960" y="4215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005840" y="4215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Use: Vehicle/infrastructure detection</a:t>
            </a:r>
            <a:endParaRPr lang="en-US" sz="1100" dirty="0"/>
          </a:p>
        </p:txBody>
      </p:sp>
    </p:spTree>
  </p:cSld>
  <p:clrMapOvr>
    <a:masterClrMapping/>
  </p:clrMapOvr>
  <p:transition spd="slow">
    <p:randomBar dir="vert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(Weeks 1-4)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Week 1-2: Foundation &amp; Dataset Preparation</a:t>
            </a:r>
            <a:endParaRPr lang="en-US" sz="1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Download UCF-Crime and xView datasets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1856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Perform EDA on surveillance videos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66544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211226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Setup Python environment and Azure account</a:t>
            </a:r>
            <a:endParaRPr lang="en-US" sz="12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2257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Document findings in Jupyter notebooks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457200" y="2788920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5" name="Text 8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Week 3-4: Object Detection Development</a:t>
            </a:r>
            <a:endParaRPr lang="en-US" sz="18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1560" y="31546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Train YOLOv8 model on border surveillance data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64992"/>
            <a:ext cx="228600" cy="22860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51560" y="34107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Fine-tune with custom annotations (Roboflow)</a:t>
            </a:r>
            <a:endParaRPr lang="en-US" sz="12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21024"/>
            <a:ext cx="228600" cy="22860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051560" y="36667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Achieve &gt;90% detection accuracy</a:t>
            </a:r>
            <a:endParaRPr lang="en-US" sz="12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77056"/>
            <a:ext cx="228600" cy="228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1051560" y="39227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Evaluate model performance (precision, recall)</a:t>
            </a:r>
            <a:endParaRPr lang="en-US" sz="1200" dirty="0"/>
          </a:p>
        </p:txBody>
      </p:sp>
    </p:spTree>
  </p:cSld>
  <p:clrMapOvr>
    <a:masterClrMapping/>
  </p:clrMapOvr>
  <p:transition spd="slow">
    <p:wheel spokes="1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(Weeks 5-8)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211580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Week 5-6: Anomaly Detection System</a:t>
            </a:r>
            <a:endParaRPr lang="en-US" sz="1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Extract features (optical flow, spatial patterns)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1856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Train ensemble models (Isolation Forest + Random Forest)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66544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211226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Implement alert prioritization logic</a:t>
            </a:r>
            <a:endParaRPr lang="en-US" sz="12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2257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Test on validation dataset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501445" y="2793492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5" name="Text 8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Week 7-8: Azure Cloud Integration</a:t>
            </a:r>
            <a:endParaRPr lang="en-US" sz="18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1560" y="31546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Deploy models to Azure Functions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64992"/>
            <a:ext cx="228600" cy="22860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51560" y="34107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Setup Blob Storage for video/frame storage</a:t>
            </a:r>
            <a:endParaRPr lang="en-US" sz="12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21024"/>
            <a:ext cx="228600" cy="22860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051560" y="36667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Configure Cosmos DB for alert logs</a:t>
            </a:r>
            <a:endParaRPr lang="en-US" sz="12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77056"/>
            <a:ext cx="228600" cy="228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1051560" y="39227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Build CI/CD pipeline with GitHub Actions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:dissolve/>
      </p:transition>
    </mc:Choice>
    <mc:Fallback>
      <p:transition spd="slow">
        <p:dissolv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(Weeks 9-12)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207008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Week 9-10: Dashboard &amp; Visualization</a:t>
            </a:r>
            <a:endParaRPr lang="en-US" sz="1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Build Power BI dashboard (real-time alerts, heatmaps)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1856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Create Streamlit web app (alternative)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66544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211226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Implement email/SMS notification system</a:t>
            </a:r>
            <a:endParaRPr lang="en-US" sz="12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2257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Test end-to-end alert flow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457200" y="2784348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5" name="Text 8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Week 11-12: Testing &amp; Documentation</a:t>
            </a:r>
            <a:endParaRPr lang="en-US" sz="18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1560" y="31546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System testing (various scenarios, stress test)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64992"/>
            <a:ext cx="228600" cy="22860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51560" y="34107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Complete GitHub repository (clean code, README)</a:t>
            </a:r>
            <a:endParaRPr lang="en-US" sz="12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21024"/>
            <a:ext cx="228600" cy="22860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051560" y="36667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Write project report (15-20 pages)</a:t>
            </a:r>
            <a:endParaRPr lang="en-US" sz="12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77056"/>
            <a:ext cx="228600" cy="228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1051560" y="39227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Prepare demo video and presentation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&amp; Success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9659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Deliverables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182880" cy="182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50876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Trained YOLOv8 model (object detection)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09928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75564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Ensemble anomaly detection model</a:t>
            </a:r>
            <a:endParaRPr lang="en-US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56816"/>
            <a:ext cx="182880" cy="182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2002536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Azure-deployed cloud system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03704"/>
            <a:ext cx="182880" cy="1828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2249424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Power BI real-time dashboard</a:t>
            </a:r>
            <a:endParaRPr lang="en-US" sz="11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50592"/>
            <a:ext cx="182880" cy="1828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05840" y="249631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Complete GitHub repository</a:t>
            </a:r>
            <a:endParaRPr lang="en-US" sz="110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97480"/>
            <a:ext cx="182880" cy="1828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05840" y="274320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Project report (15-20 pages)</a:t>
            </a:r>
            <a:endParaRPr lang="en-US" sz="1100" dirty="0"/>
          </a:p>
        </p:txBody>
      </p:sp>
      <p:sp>
        <p:nvSpPr>
          <p:cNvPr id="17" name="Shape 9"/>
          <p:cNvSpPr/>
          <p:nvPr/>
        </p:nvSpPr>
        <p:spPr>
          <a:xfrm>
            <a:off x="4754880" y="1005840"/>
            <a:ext cx="3931920" cy="1965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0"/>
          <p:cNvSpPr/>
          <p:nvPr/>
        </p:nvSpPr>
        <p:spPr>
          <a:xfrm>
            <a:off x="4937760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Success Metrics</a:t>
            </a:r>
            <a:endParaRPr lang="en-US" sz="1800" dirty="0"/>
          </a:p>
        </p:txBody>
      </p:sp>
      <p:sp>
        <p:nvSpPr>
          <p:cNvPr id="19" name="Text 11"/>
          <p:cNvSpPr/>
          <p:nvPr/>
        </p:nvSpPr>
        <p:spPr>
          <a:xfrm>
            <a:off x="5029200" y="1600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Detection Accuracy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7315200" y="160020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D9FF"/>
                </a:solidFill>
              </a:rPr>
              <a:t>&gt;90%</a:t>
            </a:r>
            <a:endParaRPr lang="en-US" sz="1400" dirty="0"/>
          </a:p>
        </p:txBody>
      </p:sp>
      <p:sp>
        <p:nvSpPr>
          <p:cNvPr id="21" name="Text 13"/>
          <p:cNvSpPr/>
          <p:nvPr/>
        </p:nvSpPr>
        <p:spPr>
          <a:xfrm>
            <a:off x="502920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False Positive Rate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7315200" y="19659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D9FF"/>
                </a:solidFill>
              </a:rPr>
              <a:t>&lt;20%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5029200" y="2331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Processing Speed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7315200" y="23317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D9FF"/>
                </a:solidFill>
              </a:rPr>
              <a:t>&gt;20 FPS</a:t>
            </a:r>
            <a:endParaRPr lang="en-US" sz="1400" dirty="0"/>
          </a:p>
        </p:txBody>
      </p:sp>
      <p:sp>
        <p:nvSpPr>
          <p:cNvPr id="25" name="Text 17"/>
          <p:cNvSpPr/>
          <p:nvPr/>
        </p:nvSpPr>
        <p:spPr>
          <a:xfrm>
            <a:off x="502920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Alert Response Time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7315200" y="26974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D9FF"/>
                </a:solidFill>
              </a:rPr>
              <a:t>&lt;1 sec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457200" y="3108960"/>
            <a:ext cx="8229600" cy="9144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8" name="Text 20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Production-Ready AI System for National Security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doors dir="ver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D9FF"/>
                </a:solidFill>
              </a:rPr>
              <a:t>This project demonstrates:</a:t>
            </a:r>
            <a:endParaRPr lang="en-US" sz="1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508760"/>
            <a:ext cx="228600" cy="228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155448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Practical application of AI/ML in national security</a:t>
            </a:r>
            <a:endParaRPr lang="en-US" sz="13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82880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37360" y="187452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Integration of Microsoft Elevate learnings (all 12 weeks)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148840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737360" y="219456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End-to-end system development (data → deployment)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468880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737360" y="2514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Cloud computing skills using Azure platform</a:t>
            </a:r>
            <a:endParaRPr lang="en-US" sz="13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788920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737360" y="283464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Real-world problem-solving approach</a:t>
            </a:r>
            <a:endParaRPr lang="en-US" sz="1300" dirty="0"/>
          </a:p>
        </p:txBody>
      </p:sp>
      <p:sp>
        <p:nvSpPr>
          <p:cNvPr id="14" name="Text 7"/>
          <p:cNvSpPr/>
          <p:nvPr/>
        </p:nvSpPr>
        <p:spPr>
          <a:xfrm>
            <a:off x="457200" y="3040381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</a:rPr>
              <a:t>Impact:</a:t>
            </a:r>
            <a:endParaRPr lang="en-US" sz="180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3383280"/>
            <a:ext cx="228600" cy="22860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965960" y="342900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Enhances border security through automation</a:t>
            </a:r>
            <a:endParaRPr lang="en-US" sz="130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3675888"/>
            <a:ext cx="228600" cy="22860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1965960" y="372160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Reduces manual monitoring burden</a:t>
            </a:r>
            <a:endParaRPr lang="en-US" sz="130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3968496"/>
            <a:ext cx="228600" cy="228600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1965960" y="4014216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Improves threat detection speed and accuracy</a:t>
            </a:r>
            <a:endParaRPr lang="en-US" sz="1300" dirty="0"/>
          </a:p>
        </p:txBody>
      </p:sp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4261104"/>
            <a:ext cx="228600" cy="22860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1965960" y="4306824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Scalable solution for large-scale surveillance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Datasets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UCF-Crime: crcv.ucf.edu/projects/real-world/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1848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61848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xView: xviewdataset.org/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865376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DOTA: captain-whu.github.io/DOTA/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Technologies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256032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56032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YOLOv8: docs.ultralytics.com/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80720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80720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Microsoft Azure: azure.microsoft.com/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054096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05409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TensorFlow: tensorflow.org/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1005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Research Papers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46320" y="137160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1371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Real-world Anomaly Detection 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Surveillance Videos (CVPR)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192024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YOLOv8: Advanced Object Detection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Architecture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246888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2468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Enhancing Border Security Through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Computer Vision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ADCFC"/>
                </a:solidFill>
              </a:rPr>
              <a:t>All references and resources available in project documentation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57150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691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457200" y="233614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00D9FF"/>
                </a:solidFill>
              </a:rPr>
              <a:t>Questions?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2182761" y="2780144"/>
            <a:ext cx="4492359" cy="1390036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6" name="Text 3"/>
          <p:cNvSpPr/>
          <p:nvPr/>
        </p:nvSpPr>
        <p:spPr>
          <a:xfrm>
            <a:off x="2468880" y="2871069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Contact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2468880" y="315423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Jainil Gupta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468880" y="3383722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Email: Jainilgupta93@outlook.com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468880" y="3636805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CADCFC"/>
                </a:solidFill>
              </a:rPr>
              <a:t>GitHub: https://github.com/jainilgupta02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468880" y="3886421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LinkedIn: https://linkedin.com/in/jainilgupta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6177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B8D8"/>
                </a:solidFill>
              </a:rPr>
              <a:t>SAL Institute of Technology and Engineering Research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B8D8"/>
                </a:solidFill>
              </a:rPr>
              <a:t>Microsoft Elevate Internship 2026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rder_Defence_Presentation" id="{9E4F15CF-6B86-494D-9959-3096D1BA2AB0}" vid="{5DD214B2-4F19-4E61-B85D-15F74B7965D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Words>1476</Words>
  <Application>Microsoft Office PowerPoint</Application>
  <PresentationFormat>On-screen Show (16:9)</PresentationFormat>
  <Paragraphs>375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Border Defence and Surveillance - AI-Powered System</dc:title>
  <dc:subject>PptxGenJS Presentation</dc:subject>
  <dc:creator>Jay Gupta</dc:creator>
  <cp:lastModifiedBy>Jainil Gupta</cp:lastModifiedBy>
  <cp:revision>6</cp:revision>
  <dcterms:created xsi:type="dcterms:W3CDTF">2026-02-06T17:39:37Z</dcterms:created>
  <dcterms:modified xsi:type="dcterms:W3CDTF">2026-02-06T18:24:56Z</dcterms:modified>
</cp:coreProperties>
</file>